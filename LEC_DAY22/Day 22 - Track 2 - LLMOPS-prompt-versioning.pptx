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2" roundtripDataSignature="AMtx7miqPmYJIISa62uoUlE3kHAaN8Lh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customschemas.google.com/relationships/presentationmetadata" Target="metadata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6" name="Google Shape;53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7" name="Google Shape;66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6" name="Google Shape;69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4" name="Google Shape;73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3" name="Google Shape;74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8" name="Google Shape;76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1" name="Google Shape;85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0" name="Google Shape;86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1" name="Google Shape;90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5" name="Google Shape;93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4" name="Google Shape;94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0" name="Google Shape;98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7" name="Google Shape;1007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0" name="Google Shape;1030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6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9CC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B9CC8"/>
                </a:solidFill>
                <a:latin typeface="Arial"/>
                <a:ea typeface="Arial"/>
                <a:cs typeface="Arial"/>
                <a:sym typeface="Arial"/>
              </a:rPr>
              <a:t>AICB-P2T2  ·  Chương 5: Vận Hành  ·  Tuần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1078992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LLMOps &amp;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1810512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5200"/>
              <a:buFont typeface="Arial"/>
              <a:buNone/>
            </a:pPr>
            <a:r>
              <a:rPr b="1" i="0" lang="en-US" sz="5200" u="none" cap="none" strike="noStrike">
                <a:solidFill>
                  <a:srgbClr val="AABBD4"/>
                </a:solidFill>
                <a:latin typeface="Arial"/>
                <a:ea typeface="Arial"/>
                <a:cs typeface="Arial"/>
                <a:sym typeface="Arial"/>
              </a:rPr>
              <a:t>Prompt Versioning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474720" y="2697480"/>
            <a:ext cx="2194560" cy="3657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9CC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B9CC8"/>
                </a:solidFill>
                <a:latin typeface="Arial"/>
                <a:ea typeface="Arial"/>
                <a:cs typeface="Arial"/>
                <a:sym typeface="Arial"/>
              </a:rPr>
              <a:t>Giảng viên  ·  VinUniversity  ·  Ngày 22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952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HÃY SUY NGHĨ...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48640" y="82296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"Prompt thay đổi = behavior thay đổi."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40080" y="1481328"/>
            <a:ext cx="7863840" cy="2286000"/>
          </a:xfrm>
          <a:prstGeom prst="rect">
            <a:avLst/>
          </a:prstGeom>
          <a:solidFill>
            <a:srgbClr val="1A3566"/>
          </a:solidFill>
          <a:ln cap="flat" cmpd="sng" w="12700">
            <a:solidFill>
              <a:srgbClr val="3A5D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777240" y="160020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Case Study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777240" y="1920240"/>
            <a:ext cx="74066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8D8F0"/>
                </a:solidFill>
                <a:latin typeface="Arial"/>
                <a:ea typeface="Arial"/>
                <a:cs typeface="Arial"/>
                <a:sym typeface="Arial"/>
              </a:rPr>
              <a:t>Một team thay đổi 1 dòng trong system prompt để output "chi tiết hơn một chút".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8D8F0"/>
                </a:solidFill>
                <a:latin typeface="Arial"/>
                <a:ea typeface="Arial"/>
                <a:cs typeface="Arial"/>
                <a:sym typeface="Arial"/>
              </a:rPr>
              <a:t>Kết quả: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8D8F0"/>
                </a:solidFill>
                <a:latin typeface="Arial"/>
                <a:ea typeface="Arial"/>
                <a:cs typeface="Arial"/>
                <a:sym typeface="Arial"/>
              </a:rPr>
              <a:t>  • Latency tăng 3x vì output dài hơn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8D8F0"/>
                </a:solidFill>
                <a:latin typeface="Arial"/>
                <a:ea typeface="Arial"/>
                <a:cs typeface="Arial"/>
                <a:sym typeface="Arial"/>
              </a:rPr>
              <a:t>  • Token cost tăng 200%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8D8F0"/>
                </a:solidFill>
                <a:latin typeface="Arial"/>
                <a:ea typeface="Arial"/>
                <a:cs typeface="Arial"/>
                <a:sym typeface="Arial"/>
              </a:rPr>
              <a:t>  • Không ai biết nguyên nhân — vì không track prompt versions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8D8F0"/>
                </a:solidFill>
                <a:latin typeface="Arial"/>
                <a:ea typeface="Arial"/>
                <a:cs typeface="Arial"/>
                <a:sym typeface="Arial"/>
              </a:rPr>
              <a:t>LLMOps giúp bạn: trace · version · eval mọi thay đổi.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57200" y="391363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9CC8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7B9CC8"/>
                </a:solidFill>
                <a:latin typeface="Arial"/>
                <a:ea typeface="Arial"/>
                <a:cs typeface="Arial"/>
                <a:sym typeface="Arial"/>
              </a:rPr>
              <a:t>Giữ câu hỏi này trong đầu suốt buổi học hôm nay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Nội Dung Bài Học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BD4"/>
                </a:solidFill>
                <a:latin typeface="Arial"/>
                <a:ea typeface="Arial"/>
                <a:cs typeface="Arial"/>
                <a:sym typeface="Arial"/>
              </a:rPr>
              <a:t>Ngày 22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320040" y="960120"/>
            <a:ext cx="420624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320040" y="960120"/>
            <a:ext cx="475488" cy="80467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329184" y="1161288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886968" y="105156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LLMOps vs MLOps Truyền Thống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886968" y="1453896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20 phút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4800600" y="960120"/>
            <a:ext cx="420624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4800600" y="960120"/>
            <a:ext cx="475488" cy="80467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4809744" y="1161288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367528" y="105156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LangSmith: Trace, Debug &amp; Monitor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5367528" y="1453896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40 phút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320040" y="1947672"/>
            <a:ext cx="420624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320040" y="1947672"/>
            <a:ext cx="475488" cy="80467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329184" y="2148840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886968" y="2039112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Prompt Hub: Version Control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886968" y="2441448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30 phút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800600" y="1947672"/>
            <a:ext cx="420624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4800600" y="1947672"/>
            <a:ext cx="475488" cy="80467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4809744" y="2148840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5367528" y="2039112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LLM Evaluation: Vượt Ra Ngoài Accuracy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367528" y="2441448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20 phút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320040" y="2935224"/>
            <a:ext cx="420624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320040" y="2935224"/>
            <a:ext cx="475488" cy="80467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329184" y="3136392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886968" y="3026664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W&amp;B Weave: LLM Evaluation Platform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886968" y="3429000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15 phút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800600" y="2935224"/>
            <a:ext cx="420624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4800600" y="2935224"/>
            <a:ext cx="475488" cy="80467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4809744" y="3136392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367528" y="3026664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Guardrails &amp; Safety Monitoring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367528" y="3429000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15 phút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20040" y="3922776"/>
            <a:ext cx="420624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320040" y="3922776"/>
            <a:ext cx="475488" cy="80467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329184" y="4123944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886968" y="4014216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Live Demo &amp; Thực Hành Labs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886968" y="4416552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Còn lại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800600" y="3922776"/>
            <a:ext cx="420624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4800600" y="3922776"/>
            <a:ext cx="475488" cy="80467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4809744" y="4123944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367528" y="4014216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Key Takeaways &amp; Preview Ngày 23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367528" y="4416552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5 phút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320040" y="48646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AICB-P2T2 · Ngày 22 · VinUniversity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80467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3 / 37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Mục Tiêu Bài Học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BD4"/>
                </a:solidFill>
                <a:latin typeface="Arial"/>
                <a:ea typeface="Arial"/>
                <a:cs typeface="Arial"/>
                <a:sym typeface="Arial"/>
              </a:rPr>
              <a:t>Ngày 22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320040" y="914400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Sau buổi học này, bạn sẽ có thể: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320040" y="1298448"/>
            <a:ext cx="850392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320040" y="1298448"/>
            <a:ext cx="530352" cy="77724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320040" y="1499616"/>
            <a:ext cx="530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987552" y="138988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Master LangSmith Tracing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987552" y="1664208"/>
            <a:ext cx="7680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Instrument LLM apps, trace từng call, debug bottlenecks, filter traces theo latency/cost/error.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20040" y="2194560"/>
            <a:ext cx="850392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320040" y="2194560"/>
            <a:ext cx="530352" cy="77724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320040" y="2395728"/>
            <a:ext cx="530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987552" y="22860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Implement Prompt Versioning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987552" y="2560320"/>
            <a:ext cx="7680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Dùng LangSmith Prompt Hub để store, version, pin prompts — giống GitHub cho prompts.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320040" y="3090672"/>
            <a:ext cx="850392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320040" y="3090672"/>
            <a:ext cx="530352" cy="77724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320040" y="3291840"/>
            <a:ext cx="530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987552" y="318211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Setup LLM Evaluation hệ thống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987552" y="3456432"/>
            <a:ext cx="7680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Dùng W&amp;B Weave + RAGAS để evaluate faithfulness, relevance, hallucination có hệ thống.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320040" y="3986784"/>
            <a:ext cx="850392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320040" y="3986784"/>
            <a:ext cx="530352" cy="77724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320040" y="4187952"/>
            <a:ext cx="530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987552" y="407822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Áp dụng Guardrails an toàn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987552" y="4352544"/>
            <a:ext cx="7680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Validate LLM inputs/outputs: chặn PII, detect prompt injection, reask khi format sai.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320040" y="48646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AICB-P2T2 · Ngày 22 · VinUniversity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80467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4 / 37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Deliverable Cuối Ngày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BD4"/>
                </a:solidFill>
                <a:latin typeface="Arial"/>
                <a:ea typeface="Arial"/>
                <a:cs typeface="Arial"/>
                <a:sym typeface="Arial"/>
              </a:rPr>
              <a:t>Lab #22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320040" y="914400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Những gì bạn phải nộp sau buổi thực hành: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320040" y="1325880"/>
            <a:ext cx="8503920" cy="7498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320040" y="1325880"/>
            <a:ext cx="8503920" cy="3657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502920" y="1417320"/>
            <a:ext cx="4572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1. LangSmith Project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502920" y="16916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&gt; 100 traces từ RAG pipeline thực tế. Phân tích được latency, cost, error rate.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320040" y="2203704"/>
            <a:ext cx="8503920" cy="7498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320040" y="2203704"/>
            <a:ext cx="8503920" cy="3657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502920" y="2295144"/>
            <a:ext cx="4572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2. Prompt Hub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02920" y="256946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2 prompt versions với commit messages rõ ràng. Implement A/B routing 50/50.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320040" y="3081528"/>
            <a:ext cx="8503920" cy="7498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320040" y="3081528"/>
            <a:ext cx="8503920" cy="3657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502920" y="3172968"/>
            <a:ext cx="4572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3. RAGAS Evaluation Report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02920" y="344728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Chạy RAGAS trên 50 QA pairs. Faithfulness score &gt; 0.8. So sánh 2 prompt versions.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320040" y="3959352"/>
            <a:ext cx="8503920" cy="7498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320040" y="3959352"/>
            <a:ext cx="8503920" cy="3657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502920" y="4050792"/>
            <a:ext cx="4572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4. Guardrails AI Validator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502920" y="432511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Block PII (email, phone). Auto-reformat non-JSON outputs. Log mọi incident.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320040" y="48646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AICB-P2T2 · Ngày 22 · VinUniversity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80467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5 / 37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6B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PHẦN 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LLMOps vs MLOps Truyền Thống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57200" y="25786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9CC8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7B9CC8"/>
                </a:solidFill>
                <a:latin typeface="Arial"/>
                <a:ea typeface="Arial"/>
                <a:cs typeface="Arial"/>
                <a:sym typeface="Arial"/>
              </a:rPr>
              <a:t>Tại sao vận hành LLM lại khác?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MLOps Truyền Thống — Nhắc Lại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BD4"/>
                </a:solidFill>
                <a:latin typeface="Arial"/>
                <a:ea typeface="Arial"/>
                <a:cs typeface="Arial"/>
                <a:sym typeface="Arial"/>
              </a:rPr>
              <a:t>Section 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320040" y="914400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MLOps (Machine Learning Operations) là quy trình vận hành các hệ thống ML truyền thống: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320040" y="1325880"/>
            <a:ext cx="2011680" cy="3291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320040" y="1325880"/>
            <a:ext cx="2011680" cy="34747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411480" y="135331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Tracking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411480" y="1783080"/>
            <a:ext cx="18745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• Hyperparameters (lr, batch size)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• Train/eval metrics (loss, accuracy)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• Model artifacts &amp; checkpoints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• Data versions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2468880" y="1325880"/>
            <a:ext cx="2011680" cy="3291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2468880" y="1325880"/>
            <a:ext cx="2011680" cy="34747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2560320" y="135331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Versioning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2560320" y="1783080"/>
            <a:ext cx="18745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• Model weights (.pkl, .pt)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• Training datasets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• Feature pipelines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• Code (Git)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4617720" y="1325880"/>
            <a:ext cx="2011680" cy="3291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4617720" y="1325880"/>
            <a:ext cx="2011680" cy="34747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4709160" y="135331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Evaluation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4709160" y="1783080"/>
            <a:ext cx="18745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• Accuracy, F1, AUC-ROC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• Precision / Recall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• Confusion matrix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• Benchmark datasets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6766560" y="1325880"/>
            <a:ext cx="2011680" cy="3291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6766560" y="1325880"/>
            <a:ext cx="2011680" cy="34747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6858000" y="135331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Safety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6858000" y="1783080"/>
            <a:ext cx="18745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• Model fairness metrics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• Bias detection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• Data privacy (training)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• Adversarial robustness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320040" y="48646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AICB-P2T2 · Ngày 22 · VinUniversity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80467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7 / 37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LLMOps — Tại Sao Cần Khác?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BD4"/>
                </a:solidFill>
                <a:latin typeface="Arial"/>
                <a:ea typeface="Arial"/>
                <a:cs typeface="Arial"/>
                <a:sym typeface="Arial"/>
              </a:rPr>
              <a:t>Section 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320040" y="914400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LLMOps extends MLOps với các thách thức đặc thù của Large Language Models: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320040" y="1298448"/>
            <a:ext cx="2743200" cy="1481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320040" y="1298448"/>
            <a:ext cx="54864" cy="1481328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484632" y="143560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Non-deterministic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484632" y="173736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Cùng 1 input → output khác nhau mỗi lần. Không thể reproduce bug dễ dàng.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3246120" y="1298448"/>
            <a:ext cx="2743200" cy="1481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3246120" y="1298448"/>
            <a:ext cx="54864" cy="1481328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3410712" y="143560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Prompt-sensitive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3410712" y="173736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Thay 1 từ trong prompt → behavior thay đổi hoàn toàn. Phải version control prompts.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6172200" y="1298448"/>
            <a:ext cx="2743200" cy="1481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6172200" y="1298448"/>
            <a:ext cx="54864" cy="1481328"/>
          </a:xfrm>
          <a:prstGeom prst="rect">
            <a:avLst/>
          </a:prstGeom>
          <a:solidFill>
            <a:srgbClr val="2E6DA4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6336792" y="143560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Subjective quality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6336792" y="173736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Không có ground truth rõ ràng. Cần LLM-as-judge hoặc human eval.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320040" y="2926080"/>
            <a:ext cx="2743200" cy="1481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320040" y="2926080"/>
            <a:ext cx="54864" cy="1481328"/>
          </a:xfrm>
          <a:prstGeom prst="rect">
            <a:avLst/>
          </a:prstGeom>
          <a:solidFill>
            <a:srgbClr val="1A7A4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484632" y="306324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Token cost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484632" y="3364992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Cost tính theo token, không phải compute time. 1 prompt dài = nhiều tiền hơn.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3246120" y="2926080"/>
            <a:ext cx="2743200" cy="1481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3246120" y="2926080"/>
            <a:ext cx="54864" cy="1481328"/>
          </a:xfrm>
          <a:prstGeom prst="rect">
            <a:avLst/>
          </a:prstGeom>
          <a:solidFill>
            <a:srgbClr val="8B2FC9"/>
          </a:solidFill>
          <a:ln cap="flat" cmpd="sng" w="12700">
            <a:solidFill>
              <a:srgbClr val="8B2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3410712" y="306324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Safety concerns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3410712" y="3364992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Prompt injection, jailbreak, PII leak — không tồn tại trong MLOps truyền thống.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6172200" y="2926080"/>
            <a:ext cx="2743200" cy="1481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6172200" y="2926080"/>
            <a:ext cx="54864" cy="1481328"/>
          </a:xfrm>
          <a:prstGeom prst="rect">
            <a:avLst/>
          </a:prstGeom>
          <a:solidFill>
            <a:srgbClr val="C85A10"/>
          </a:solidFill>
          <a:ln cap="flat" cmpd="sng" w="12700">
            <a:solidFill>
              <a:srgbClr val="C85A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6336792" y="306324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Hallucination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6336792" y="3364992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LLM có thể tự bịa ra thông tin. Phải track hallucination rate liên tục.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320040" y="48646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AICB-P2T2 · Ngày 22 · VinUniversity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80467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8 / 37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MLOps vs LLMOps — So Sánh Chi Tiết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BD4"/>
                </a:solidFill>
                <a:latin typeface="Arial"/>
                <a:ea typeface="Arial"/>
                <a:cs typeface="Arial"/>
                <a:sym typeface="Arial"/>
              </a:rPr>
              <a:t>Section 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320040" y="841248"/>
            <a:ext cx="1920240" cy="493776"/>
          </a:xfrm>
          <a:prstGeom prst="rect">
            <a:avLst/>
          </a:prstGeom>
          <a:solidFill>
            <a:srgbClr val="1B3A6B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411480" y="877824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Khía cạnh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2286000" y="841248"/>
            <a:ext cx="3200400" cy="493776"/>
          </a:xfrm>
          <a:prstGeom prst="rect">
            <a:avLst/>
          </a:prstGeom>
          <a:solidFill>
            <a:srgbClr val="1B3A6B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2377440" y="877824"/>
            <a:ext cx="3017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MLOps Truyền Thống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5532120" y="841248"/>
            <a:ext cx="3200400" cy="493776"/>
          </a:xfrm>
          <a:prstGeom prst="rect">
            <a:avLst/>
          </a:prstGeom>
          <a:solidFill>
            <a:srgbClr val="1B3A6B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5623560" y="877824"/>
            <a:ext cx="3017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LLMOps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320040" y="1335024"/>
            <a:ext cx="192024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411480" y="1371600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Tracking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2286000" y="1335024"/>
            <a:ext cx="320040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2377440" y="1371600"/>
            <a:ext cx="3017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Hyperparams, train/eval metrics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5532120" y="1335024"/>
            <a:ext cx="320040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5623560" y="1371600"/>
            <a:ext cx="3017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Trace từng LLM call, token cost per request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320040" y="1828800"/>
            <a:ext cx="1920240" cy="493776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411480" y="1865376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2286000" y="1828800"/>
            <a:ext cx="3200400" cy="493776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2377440" y="1865376"/>
            <a:ext cx="3017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Deterministic, reproducible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5532120" y="1828800"/>
            <a:ext cx="3200400" cy="493776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5623560" y="1865376"/>
            <a:ext cx="3017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Non-deterministic, subjective quality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320040" y="2322576"/>
            <a:ext cx="192024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411480" y="2359152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Versioning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2286000" y="2322576"/>
            <a:ext cx="320040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2377440" y="2359152"/>
            <a:ext cx="3017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Model weights, datasets, code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5532120" y="2322576"/>
            <a:ext cx="320040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5623560" y="2359152"/>
            <a:ext cx="3017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+ Prompts, system instructions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320040" y="2816352"/>
            <a:ext cx="1920240" cy="493776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411480" y="2852928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Evaluation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2286000" y="2816352"/>
            <a:ext cx="3200400" cy="493776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2377440" y="2852928"/>
            <a:ext cx="3017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Accuracy, F1, AUC-ROC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5532120" y="2816352"/>
            <a:ext cx="3200400" cy="493776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5623560" y="2852928"/>
            <a:ext cx="3017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Faithfulness, Relevance, Hallucination rate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320040" y="3310128"/>
            <a:ext cx="192024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411480" y="3346704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Cost model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2286000" y="3310128"/>
            <a:ext cx="320040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2377440" y="3346704"/>
            <a:ext cx="3017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Compute time (GPU hours)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5532120" y="3310128"/>
            <a:ext cx="320040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5623560" y="3346704"/>
            <a:ext cx="3017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Token cost per task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320040" y="3803904"/>
            <a:ext cx="1920240" cy="493776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411480" y="3840480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Safety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2286000" y="3803904"/>
            <a:ext cx="3200400" cy="493776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2377440" y="3840480"/>
            <a:ext cx="3017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Model fairness, bias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5532120" y="3803904"/>
            <a:ext cx="3200400" cy="493776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5623560" y="3840480"/>
            <a:ext cx="3017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Prompt injection, jailbreak, PII leak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320040" y="4297680"/>
            <a:ext cx="192024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411480" y="4334256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Key tools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2286000" y="4297680"/>
            <a:ext cx="320040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2377440" y="4334256"/>
            <a:ext cx="3017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MLflow, W&amp;B, DVC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5532120" y="4297680"/>
            <a:ext cx="320040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5623560" y="4334256"/>
            <a:ext cx="3017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LangSmith, W&amp;B Weave, Helicone, RAGAS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320040" y="48646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AICB-P2T2 · Ngày 22 · VinUniversity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80467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9 / 37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LLMOps Stack 2025–2026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BD4"/>
                </a:solidFill>
                <a:latin typeface="Arial"/>
                <a:ea typeface="Arial"/>
                <a:cs typeface="Arial"/>
                <a:sym typeface="Arial"/>
              </a:rPr>
              <a:t>Section 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320040" y="914400"/>
            <a:ext cx="850392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320040" y="914400"/>
            <a:ext cx="73152" cy="71323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502920" y="996696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Safety Layer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502920" y="1261872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Guardrails AI · Llama Guard 2 · NeMo Guardrails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4709160" y="1033272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Block harmful inputs/outputs, detect PII, classify harm categories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411480" y="1737360"/>
            <a:ext cx="832104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411480" y="1737360"/>
            <a:ext cx="73152" cy="713232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594360" y="1819656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rPr>
              <a:t>Evaluation Layer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594360" y="2084832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RAGAS · Promptfoo · DeepEval · LLM-as-Judge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4800600" y="1856232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Measure faithfulness, relevance, hallucination; A/B test prompts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502920" y="2560320"/>
            <a:ext cx="813816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502920" y="2560320"/>
            <a:ext cx="73152" cy="71323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0"/>
          <p:cNvSpPr/>
          <p:nvPr/>
        </p:nvSpPr>
        <p:spPr>
          <a:xfrm>
            <a:off x="685800" y="2642616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Tracing Layer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685800" y="2907792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LangSmith · W&amp;B Weave · Phoenix · Arize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4892040" y="2679192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Trace every LLM call, debug errors, analyze latency &amp; cost per run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594360" y="3383280"/>
            <a:ext cx="795528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594360" y="3383280"/>
            <a:ext cx="73152" cy="713232"/>
          </a:xfrm>
          <a:prstGeom prst="rect">
            <a:avLst/>
          </a:prstGeom>
          <a:solidFill>
            <a:srgbClr val="1A7A4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777240" y="3465576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7A4A"/>
                </a:solidFill>
                <a:latin typeface="Arial"/>
                <a:ea typeface="Arial"/>
                <a:cs typeface="Arial"/>
                <a:sym typeface="Arial"/>
              </a:rPr>
              <a:t>Prompt Management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777240" y="3730752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LangSmith Prompt Hub · YAML in Git · Promptsmith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4983480" y="3502152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Version, store, review, pin exact prompt versions in production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685800" y="4206240"/>
            <a:ext cx="777240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6B4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685800" y="4206240"/>
            <a:ext cx="73152" cy="713232"/>
          </a:xfrm>
          <a:prstGeom prst="rect">
            <a:avLst/>
          </a:prstGeom>
          <a:solidFill>
            <a:srgbClr val="6B4FC8"/>
          </a:solidFill>
          <a:ln cap="flat" cmpd="sng" w="12700">
            <a:solidFill>
              <a:srgbClr val="6B4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868680" y="4288536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4FC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B4FC8"/>
                </a:solidFill>
                <a:latin typeface="Arial"/>
                <a:ea typeface="Arial"/>
                <a:cs typeface="Arial"/>
                <a:sym typeface="Arial"/>
              </a:rPr>
              <a:t>Cost &amp; Observability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868680" y="4553712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Helicone · OpenMeter · Prometheus · Grafana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5074920" y="4325112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Track token cost, request volume, latency P50/P95, budget alerts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320040" y="48646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AICB-P2T2 · Ngày 22 · VinUniversity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80467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10 / 37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Metrics Cần Track Trong LLMOps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BD4"/>
                </a:solidFill>
                <a:latin typeface="Arial"/>
                <a:ea typeface="Arial"/>
                <a:cs typeface="Arial"/>
                <a:sym typeface="Arial"/>
              </a:rPr>
              <a:t>Section 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320040" y="1005840"/>
            <a:ext cx="2011680" cy="1463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320040" y="1005840"/>
            <a:ext cx="2011680" cy="54864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411480" y="118872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$0.002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411480" y="181051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avg per query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411480" y="208483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Token Cost / Task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2496312" y="1005840"/>
            <a:ext cx="2011680" cy="1463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1"/>
          <p:cNvSpPr/>
          <p:nvPr/>
        </p:nvSpPr>
        <p:spPr>
          <a:xfrm>
            <a:off x="2496312" y="1005840"/>
            <a:ext cx="2011680" cy="54864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1"/>
          <p:cNvSpPr/>
          <p:nvPr/>
        </p:nvSpPr>
        <p:spPr>
          <a:xfrm>
            <a:off x="2587752" y="118872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&lt; 5%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2587752" y="181051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threshold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2587752" y="208483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Hallucination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4672584" y="1005840"/>
            <a:ext cx="2011680" cy="1463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4672584" y="1005840"/>
            <a:ext cx="2011680" cy="54864"/>
          </a:xfrm>
          <a:prstGeom prst="rect">
            <a:avLst/>
          </a:prstGeom>
          <a:solidFill>
            <a:srgbClr val="1A7A4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1"/>
          <p:cNvSpPr/>
          <p:nvPr/>
        </p:nvSpPr>
        <p:spPr>
          <a:xfrm>
            <a:off x="4764024" y="118872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A7A4A"/>
                </a:solidFill>
                <a:latin typeface="Arial"/>
                <a:ea typeface="Arial"/>
                <a:cs typeface="Arial"/>
                <a:sym typeface="Arial"/>
              </a:rPr>
              <a:t>&gt; 0.8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4764024" y="181051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RAGAS target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4764024" y="208483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Faithfulness Score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6848856" y="1005840"/>
            <a:ext cx="2011680" cy="1463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6848856" y="1005840"/>
            <a:ext cx="2011680" cy="54864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1"/>
          <p:cNvSpPr/>
          <p:nvPr/>
        </p:nvSpPr>
        <p:spPr>
          <a:xfrm>
            <a:off x="6940296" y="118872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rPr>
              <a:t>&lt; 3s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6940296" y="181051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SLA target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6940296" y="208483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Latency P95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320040" y="265176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Metrics bổ sung cho LLM hệ thống: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320040" y="2980944"/>
            <a:ext cx="8503920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• User satisfaction score (thumbs up/down, CSAT)     • Context precision &amp; recall (RAG quality)     • Prompt injection attempt rate     • Cache hit rate (reduce redundant LLM calls)     • Error rate by error type (timeout, rate limit, invalid output)     • Model drift: so sánh output quality theo thời gian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320040" y="48646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AICB-P2T2 · Ngày 22 · VinUniversity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80467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11 / 37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6B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2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PHẦN 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LangSmith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457200" y="25786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9CC8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7B9CC8"/>
                </a:solidFill>
                <a:latin typeface="Arial"/>
                <a:ea typeface="Arial"/>
                <a:cs typeface="Arial"/>
                <a:sym typeface="Arial"/>
              </a:rPr>
              <a:t>Trace · Debug · Monitor LLM Applications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3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3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LangSmith — Tổng Quan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BD4"/>
                </a:solidFill>
                <a:latin typeface="Arial"/>
                <a:ea typeface="Arial"/>
                <a:cs typeface="Arial"/>
                <a:sym typeface="Arial"/>
              </a:rPr>
              <a:t>Section 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3"/>
          <p:cNvSpPr/>
          <p:nvPr/>
        </p:nvSpPr>
        <p:spPr>
          <a:xfrm>
            <a:off x="320040" y="91440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LangSmith là observability platform được xây dựng riêng cho LLM applications: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320040" y="1298448"/>
            <a:ext cx="2743200" cy="1481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3"/>
          <p:cNvSpPr/>
          <p:nvPr/>
        </p:nvSpPr>
        <p:spPr>
          <a:xfrm>
            <a:off x="320040" y="1298448"/>
            <a:ext cx="2743200" cy="54864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3"/>
          <p:cNvSpPr/>
          <p:nvPr/>
        </p:nvSpPr>
        <p:spPr>
          <a:xfrm>
            <a:off x="448056" y="1408176"/>
            <a:ext cx="2514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Tracing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448056" y="1700784"/>
            <a:ext cx="2514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Ghi lại toàn bộ execution tree của LLM app: root run → child runs (LLM calls, tool calls, retrieval). Xem latency breakdown từng bước.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3227832" y="1298448"/>
            <a:ext cx="2743200" cy="1481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3"/>
          <p:cNvSpPr/>
          <p:nvPr/>
        </p:nvSpPr>
        <p:spPr>
          <a:xfrm>
            <a:off x="3227832" y="1298448"/>
            <a:ext cx="2743200" cy="54864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3"/>
          <p:cNvSpPr/>
          <p:nvPr/>
        </p:nvSpPr>
        <p:spPr>
          <a:xfrm>
            <a:off x="3355848" y="1408176"/>
            <a:ext cx="2514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Monitoring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3355848" y="1700784"/>
            <a:ext cx="2514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Dashboard theo dõi latency heatmap, cost per day/user, error rate trend, token usage breakdown theo thời gian thực.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6135624" y="1298448"/>
            <a:ext cx="2743200" cy="1481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3"/>
          <p:cNvSpPr/>
          <p:nvPr/>
        </p:nvSpPr>
        <p:spPr>
          <a:xfrm>
            <a:off x="6135624" y="1298448"/>
            <a:ext cx="2743200" cy="54864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3"/>
          <p:cNvSpPr/>
          <p:nvPr/>
        </p:nvSpPr>
        <p:spPr>
          <a:xfrm>
            <a:off x="6263640" y="1408176"/>
            <a:ext cx="2514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Datasets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6263640" y="1700784"/>
            <a:ext cx="2514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Annotate traces → tạo evaluation dataset tự động. Dataset grows organically từ production traffic.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320040" y="2926080"/>
            <a:ext cx="2743200" cy="1481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3"/>
          <p:cNvSpPr/>
          <p:nvPr/>
        </p:nvSpPr>
        <p:spPr>
          <a:xfrm>
            <a:off x="320040" y="2926080"/>
            <a:ext cx="2743200" cy="54864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3"/>
          <p:cNvSpPr/>
          <p:nvPr/>
        </p:nvSpPr>
        <p:spPr>
          <a:xfrm>
            <a:off x="448056" y="3035808"/>
            <a:ext cx="2514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Prompt Hub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448056" y="3328416"/>
            <a:ext cx="2514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Store, version, pull/push prompts. Pin exact version bằng commit hash. A/B test prompt versions.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3227832" y="2926080"/>
            <a:ext cx="2743200" cy="1481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3"/>
          <p:cNvSpPr/>
          <p:nvPr/>
        </p:nvSpPr>
        <p:spPr>
          <a:xfrm>
            <a:off x="3227832" y="2926080"/>
            <a:ext cx="2743200" cy="54864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3"/>
          <p:cNvSpPr/>
          <p:nvPr/>
        </p:nvSpPr>
        <p:spPr>
          <a:xfrm>
            <a:off x="3355848" y="3035808"/>
            <a:ext cx="2514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Evaluations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3"/>
          <p:cNvSpPr/>
          <p:nvPr/>
        </p:nvSpPr>
        <p:spPr>
          <a:xfrm>
            <a:off x="3355848" y="3328416"/>
            <a:ext cx="2514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Chạy evaluations tự động trên datasets. So sánh kết quả qua các deployments để detect regressions.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3"/>
          <p:cNvSpPr/>
          <p:nvPr/>
        </p:nvSpPr>
        <p:spPr>
          <a:xfrm>
            <a:off x="6135624" y="2926080"/>
            <a:ext cx="2743200" cy="1481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3"/>
          <p:cNvSpPr/>
          <p:nvPr/>
        </p:nvSpPr>
        <p:spPr>
          <a:xfrm>
            <a:off x="6135624" y="2926080"/>
            <a:ext cx="2743200" cy="54864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3"/>
          <p:cNvSpPr/>
          <p:nvPr/>
        </p:nvSpPr>
        <p:spPr>
          <a:xfrm>
            <a:off x="6263640" y="3035808"/>
            <a:ext cx="2514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Human Review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3"/>
          <p:cNvSpPr/>
          <p:nvPr/>
        </p:nvSpPr>
        <p:spPr>
          <a:xfrm>
            <a:off x="6263640" y="3328416"/>
            <a:ext cx="2514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Annotation Queues: human reviewers label outputs. Xây dựng golden datasets cho calibration.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3"/>
          <p:cNvSpPr/>
          <p:nvPr/>
        </p:nvSpPr>
        <p:spPr>
          <a:xfrm>
            <a:off x="320040" y="48646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AICB-P2T2 · Ngày 22 · VinUniversity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3"/>
          <p:cNvSpPr/>
          <p:nvPr/>
        </p:nvSpPr>
        <p:spPr>
          <a:xfrm>
            <a:off x="80467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13 / 37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4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4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LangSmith Setup &amp; Auto-Instrumentation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BD4"/>
                </a:solidFill>
                <a:latin typeface="Arial"/>
                <a:ea typeface="Arial"/>
                <a:cs typeface="Arial"/>
                <a:sym typeface="Arial"/>
              </a:rPr>
              <a:t>Section 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4"/>
          <p:cNvSpPr/>
          <p:nvPr/>
        </p:nvSpPr>
        <p:spPr>
          <a:xfrm>
            <a:off x="320040" y="841248"/>
            <a:ext cx="4754880" cy="4069080"/>
          </a:xfrm>
          <a:prstGeom prst="rect">
            <a:avLst/>
          </a:prstGeom>
          <a:solidFill>
            <a:srgbClr val="1A2D4A"/>
          </a:solidFill>
          <a:ln cap="flat" cmpd="sng" w="9525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4"/>
          <p:cNvSpPr/>
          <p:nvPr/>
        </p:nvSpPr>
        <p:spPr>
          <a:xfrm>
            <a:off x="457200" y="932688"/>
            <a:ext cx="448056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import 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# 1. Enable tracing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os.environ["LANGCHAIN_TRACING_V2"] = "true"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os.environ["LANGCHAIN_API_KEY"] = "ls_..."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os.environ["LANGCHAIN_PROJECT"] = "rag-prod"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# 2. Auto-instrument LangChain (zero code change)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from langchain_openai import ChatOpenAI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from langchain_core.prompts import ChatPromptTemplate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llm = ChatOpenAI(model="gpt-4o-mini")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prompt = ChatPromptTemplate.from_template("...")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chain = prompt | llm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# 3. Custom spans for non-LangChain code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from langsmith import traceable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@traceable(run_type="chain", name="my_rag_pipeline")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def rag_pipeline(question: str) -&gt; str: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  docs = retriever.invoke(question)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  context = format_docs(docs)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llm.invoke(f"Context: {context}\nQ: {question}")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4"/>
          <p:cNvSpPr/>
          <p:nvPr/>
        </p:nvSpPr>
        <p:spPr>
          <a:xfrm>
            <a:off x="5257800" y="91440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Trace Anatomy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5257800" y="1234440"/>
            <a:ext cx="3566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Root run → child runs (tree view)</a:t>
            </a:r>
            <a:br>
              <a:rPr b="0" i="0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LLM calls với full input/output</a:t>
            </a:r>
            <a:br>
              <a:rPr b="0" i="0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Tool calls: search, DB lookup</a:t>
            </a:r>
            <a:br>
              <a:rPr b="0" i="0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Retrieval: docs fetched, scores</a:t>
            </a:r>
            <a:br>
              <a:rPr b="0" i="0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Latency breakdown mỗi step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5257800" y="274320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Filtering Traces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5257800" y="3063240"/>
            <a:ext cx="35661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Error traces only</a:t>
            </a:r>
            <a:br>
              <a:rPr b="0" i="0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Latency &gt; 2 seconds</a:t>
            </a:r>
            <a:br>
              <a:rPr b="0" i="0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Cost &gt; $0.01 per call</a:t>
            </a:r>
            <a:br>
              <a:rPr b="0" i="0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By model, tag, date range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320040" y="48646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AICB-P2T2 · Ngày 22 · VinUniversity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80467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14 / 37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5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5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Trace Anatomy — Hiểu Cấu Trúc Một Run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5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BD4"/>
                </a:solidFill>
                <a:latin typeface="Arial"/>
                <a:ea typeface="Arial"/>
                <a:cs typeface="Arial"/>
                <a:sym typeface="Arial"/>
              </a:rPr>
              <a:t>Section 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5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solidFill>
            <a:srgbClr val="1B3A6B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5"/>
          <p:cNvSpPr/>
          <p:nvPr/>
        </p:nvSpPr>
        <p:spPr>
          <a:xfrm>
            <a:off x="594360" y="1024128"/>
            <a:ext cx="7955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ROOT: rag_pipeline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457200" y="1508760"/>
            <a:ext cx="8229600" cy="384048"/>
          </a:xfrm>
          <a:prstGeom prst="rect">
            <a:avLst/>
          </a:prstGeom>
          <a:solidFill>
            <a:srgbClr val="E8EEF8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5"/>
          <p:cNvSpPr/>
          <p:nvPr/>
        </p:nvSpPr>
        <p:spPr>
          <a:xfrm>
            <a:off x="594360" y="1572768"/>
            <a:ext cx="7955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2E6DA4"/>
                </a:solidFill>
                <a:latin typeface="Courier New"/>
                <a:ea typeface="Courier New"/>
                <a:cs typeface="Courier New"/>
                <a:sym typeface="Courier New"/>
              </a:rPr>
              <a:t>├─  RETRIEVER: vectorstore.similarity_search  [120ms]  3 docs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457200" y="1993392"/>
            <a:ext cx="8229600" cy="384048"/>
          </a:xfrm>
          <a:prstGeom prst="rect">
            <a:avLst/>
          </a:prstGeom>
          <a:solidFill>
            <a:srgbClr val="E8EEF8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5"/>
          <p:cNvSpPr/>
          <p:nvPr/>
        </p:nvSpPr>
        <p:spPr>
          <a:xfrm>
            <a:off x="594360" y="2057400"/>
            <a:ext cx="7955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2E6DA4"/>
                </a:solidFill>
                <a:latin typeface="Courier New"/>
                <a:ea typeface="Courier New"/>
                <a:cs typeface="Courier New"/>
                <a:sym typeface="Courier New"/>
              </a:rPr>
              <a:t>├─  CHAIN: format_prompt  [5ms]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457200" y="2478024"/>
            <a:ext cx="8229600" cy="384048"/>
          </a:xfrm>
          <a:prstGeom prst="rect">
            <a:avLst/>
          </a:prstGeom>
          <a:solidFill>
            <a:srgbClr val="E8EEF8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5"/>
          <p:cNvSpPr/>
          <p:nvPr/>
        </p:nvSpPr>
        <p:spPr>
          <a:xfrm>
            <a:off x="594360" y="2542032"/>
            <a:ext cx="7955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8102E"/>
                </a:solidFill>
                <a:latin typeface="Courier New"/>
                <a:ea typeface="Courier New"/>
                <a:cs typeface="Courier New"/>
                <a:sym typeface="Courier New"/>
              </a:rPr>
              <a:t>└─  LLM: gpt-4o-mini  [1.4s]  ← ⚠ bottleneck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5"/>
          <p:cNvSpPr/>
          <p:nvPr/>
        </p:nvSpPr>
        <p:spPr>
          <a:xfrm>
            <a:off x="457200" y="2944368"/>
            <a:ext cx="8229600" cy="384048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5"/>
          <p:cNvSpPr/>
          <p:nvPr/>
        </p:nvSpPr>
        <p:spPr>
          <a:xfrm>
            <a:off x="594360" y="3008376"/>
            <a:ext cx="7955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4A5D7A"/>
                </a:solidFill>
                <a:latin typeface="Courier New"/>
                <a:ea typeface="Courier New"/>
                <a:cs typeface="Courier New"/>
                <a:sym typeface="Courier New"/>
              </a:rPr>
              <a:t>     ├─  input_tokens: 542   output_tokens: 198   cost: $0.0008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5"/>
          <p:cNvSpPr/>
          <p:nvPr/>
        </p:nvSpPr>
        <p:spPr>
          <a:xfrm>
            <a:off x="457200" y="3364992"/>
            <a:ext cx="8229600" cy="384048"/>
          </a:xfrm>
          <a:prstGeom prst="rect">
            <a:avLst/>
          </a:prstGeom>
          <a:solidFill>
            <a:srgbClr val="F5F7FB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5"/>
          <p:cNvSpPr/>
          <p:nvPr/>
        </p:nvSpPr>
        <p:spPr>
          <a:xfrm>
            <a:off x="594360" y="3429000"/>
            <a:ext cx="7955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4A5D7A"/>
                </a:solidFill>
                <a:latin typeface="Courier New"/>
                <a:ea typeface="Courier New"/>
                <a:cs typeface="Courier New"/>
                <a:sym typeface="Courier New"/>
              </a:rPr>
              <a:t>     └─  finish_reason: stop   latency: 1412ms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5"/>
          <p:cNvSpPr/>
          <p:nvPr/>
        </p:nvSpPr>
        <p:spPr>
          <a:xfrm>
            <a:off x="457200" y="38862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Từ một trace này bạn biết ngay: bottleneck ở LLM call, retrieval nhanh, format nhẹ → tối ưu bằng cách giảm output token hoặc dùng streaming.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320040" y="48646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AICB-P2T2 · Ngày 22 · VinUniversity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5"/>
          <p:cNvSpPr/>
          <p:nvPr/>
        </p:nvSpPr>
        <p:spPr>
          <a:xfrm>
            <a:off x="80467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15 / 37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6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6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LangSmith: Dataset &amp; Regression Testing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6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BD4"/>
                </a:solidFill>
                <a:latin typeface="Arial"/>
                <a:ea typeface="Arial"/>
                <a:cs typeface="Arial"/>
                <a:sym typeface="Arial"/>
              </a:rPr>
              <a:t>Section 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6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6"/>
          <p:cNvSpPr/>
          <p:nvPr/>
        </p:nvSpPr>
        <p:spPr>
          <a:xfrm>
            <a:off x="320040" y="91440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Quy Trình Tạo Dataset Từ Production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6"/>
          <p:cNvSpPr/>
          <p:nvPr/>
        </p:nvSpPr>
        <p:spPr>
          <a:xfrm>
            <a:off x="320040" y="1344168"/>
            <a:ext cx="347472" cy="347472"/>
          </a:xfrm>
          <a:prstGeom prst="ellipse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6"/>
          <p:cNvSpPr/>
          <p:nvPr/>
        </p:nvSpPr>
        <p:spPr>
          <a:xfrm>
            <a:off x="320040" y="1371600"/>
            <a:ext cx="3474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6"/>
          <p:cNvSpPr/>
          <p:nvPr/>
        </p:nvSpPr>
        <p:spPr>
          <a:xfrm>
            <a:off x="777240" y="137160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Production traces chạy liên tục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5" name="Google Shape;445;p16"/>
          <p:cNvCxnSpPr/>
          <p:nvPr/>
        </p:nvCxnSpPr>
        <p:spPr>
          <a:xfrm>
            <a:off x="484632" y="1691640"/>
            <a:ext cx="0" cy="256032"/>
          </a:xfrm>
          <a:prstGeom prst="straightConnector1">
            <a:avLst/>
          </a:prstGeom>
          <a:noFill/>
          <a:ln cap="flat" cmpd="sng" w="12700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6" name="Google Shape;446;p16"/>
          <p:cNvSpPr/>
          <p:nvPr/>
        </p:nvSpPr>
        <p:spPr>
          <a:xfrm>
            <a:off x="320040" y="2002536"/>
            <a:ext cx="347472" cy="347472"/>
          </a:xfrm>
          <a:prstGeom prst="ellipse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6"/>
          <p:cNvSpPr/>
          <p:nvPr/>
        </p:nvSpPr>
        <p:spPr>
          <a:xfrm>
            <a:off x="320040" y="2029968"/>
            <a:ext cx="3474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6"/>
          <p:cNvSpPr/>
          <p:nvPr/>
        </p:nvSpPr>
        <p:spPr>
          <a:xfrm>
            <a:off x="777240" y="202996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Annotate traces quan trọng (đúng/sai, edge cases)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9" name="Google Shape;449;p16"/>
          <p:cNvCxnSpPr/>
          <p:nvPr/>
        </p:nvCxnSpPr>
        <p:spPr>
          <a:xfrm>
            <a:off x="484632" y="2350008"/>
            <a:ext cx="0" cy="256032"/>
          </a:xfrm>
          <a:prstGeom prst="straightConnector1">
            <a:avLst/>
          </a:prstGeom>
          <a:noFill/>
          <a:ln cap="flat" cmpd="sng" w="12700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0" name="Google Shape;450;p16"/>
          <p:cNvSpPr/>
          <p:nvPr/>
        </p:nvSpPr>
        <p:spPr>
          <a:xfrm>
            <a:off x="320040" y="2660904"/>
            <a:ext cx="347472" cy="347472"/>
          </a:xfrm>
          <a:prstGeom prst="ellipse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6"/>
          <p:cNvSpPr/>
          <p:nvPr/>
        </p:nvSpPr>
        <p:spPr>
          <a:xfrm>
            <a:off x="320040" y="2688336"/>
            <a:ext cx="3474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6"/>
          <p:cNvSpPr/>
          <p:nvPr/>
        </p:nvSpPr>
        <p:spPr>
          <a:xfrm>
            <a:off x="777240" y="2688336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Add to evaluation dataset (1-click)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3" name="Google Shape;453;p16"/>
          <p:cNvCxnSpPr/>
          <p:nvPr/>
        </p:nvCxnSpPr>
        <p:spPr>
          <a:xfrm>
            <a:off x="484632" y="3008376"/>
            <a:ext cx="0" cy="256032"/>
          </a:xfrm>
          <a:prstGeom prst="straightConnector1">
            <a:avLst/>
          </a:prstGeom>
          <a:noFill/>
          <a:ln cap="flat" cmpd="sng" w="12700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4" name="Google Shape;454;p16"/>
          <p:cNvSpPr/>
          <p:nvPr/>
        </p:nvSpPr>
        <p:spPr>
          <a:xfrm>
            <a:off x="320040" y="3319272"/>
            <a:ext cx="347472" cy="347472"/>
          </a:xfrm>
          <a:prstGeom prst="ellipse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6"/>
          <p:cNvSpPr/>
          <p:nvPr/>
        </p:nvSpPr>
        <p:spPr>
          <a:xfrm>
            <a:off x="320040" y="3346704"/>
            <a:ext cx="3474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6"/>
          <p:cNvSpPr/>
          <p:nvPr/>
        </p:nvSpPr>
        <p:spPr>
          <a:xfrm>
            <a:off x="777240" y="3346704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Dataset grows organically từ production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7" name="Google Shape;457;p16"/>
          <p:cNvCxnSpPr/>
          <p:nvPr/>
        </p:nvCxnSpPr>
        <p:spPr>
          <a:xfrm>
            <a:off x="484632" y="3666744"/>
            <a:ext cx="0" cy="256032"/>
          </a:xfrm>
          <a:prstGeom prst="straightConnector1">
            <a:avLst/>
          </a:prstGeom>
          <a:noFill/>
          <a:ln cap="flat" cmpd="sng" w="12700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8" name="Google Shape;458;p16"/>
          <p:cNvSpPr/>
          <p:nvPr/>
        </p:nvSpPr>
        <p:spPr>
          <a:xfrm>
            <a:off x="320040" y="3977640"/>
            <a:ext cx="347472" cy="347472"/>
          </a:xfrm>
          <a:prstGeom prst="ellipse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6"/>
          <p:cNvSpPr/>
          <p:nvPr/>
        </p:nvSpPr>
        <p:spPr>
          <a:xfrm>
            <a:off x="320040" y="4005072"/>
            <a:ext cx="3474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6"/>
          <p:cNvSpPr/>
          <p:nvPr/>
        </p:nvSpPr>
        <p:spPr>
          <a:xfrm>
            <a:off x="777240" y="400507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Run regression test mỗi lần deploy mới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6"/>
          <p:cNvSpPr/>
          <p:nvPr/>
        </p:nvSpPr>
        <p:spPr>
          <a:xfrm>
            <a:off x="4754880" y="91440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Dashboard Metrics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6"/>
          <p:cNvSpPr/>
          <p:nvPr/>
        </p:nvSpPr>
        <p:spPr>
          <a:xfrm>
            <a:off x="4754880" y="1298448"/>
            <a:ext cx="406908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6"/>
          <p:cNvSpPr/>
          <p:nvPr/>
        </p:nvSpPr>
        <p:spPr>
          <a:xfrm>
            <a:off x="4892040" y="135331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Latency heatmap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6"/>
          <p:cNvSpPr/>
          <p:nvPr/>
        </p:nvSpPr>
        <p:spPr>
          <a:xfrm>
            <a:off x="4892040" y="157276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Xem latency theo time window, identify peak hours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4754880" y="1956816"/>
            <a:ext cx="406908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6"/>
          <p:cNvSpPr/>
          <p:nvPr/>
        </p:nvSpPr>
        <p:spPr>
          <a:xfrm>
            <a:off x="4892040" y="201168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Cost per day/user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6"/>
          <p:cNvSpPr/>
          <p:nvPr/>
        </p:nvSpPr>
        <p:spPr>
          <a:xfrm>
            <a:off x="4892040" y="2231136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Track budget, set alerts khi vượt threshold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6"/>
          <p:cNvSpPr/>
          <p:nvPr/>
        </p:nvSpPr>
        <p:spPr>
          <a:xfrm>
            <a:off x="4754880" y="2615184"/>
            <a:ext cx="406908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6"/>
          <p:cNvSpPr/>
          <p:nvPr/>
        </p:nvSpPr>
        <p:spPr>
          <a:xfrm>
            <a:off x="4892040" y="267004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Error rate trend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6"/>
          <p:cNvSpPr/>
          <p:nvPr/>
        </p:nvSpPr>
        <p:spPr>
          <a:xfrm>
            <a:off x="4892040" y="288950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% failed runs theo ngày, breakdown by error type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6"/>
          <p:cNvSpPr/>
          <p:nvPr/>
        </p:nvSpPr>
        <p:spPr>
          <a:xfrm>
            <a:off x="4754880" y="3273552"/>
            <a:ext cx="406908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6"/>
          <p:cNvSpPr/>
          <p:nvPr/>
        </p:nvSpPr>
        <p:spPr>
          <a:xfrm>
            <a:off x="4892040" y="3328416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Token usage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6"/>
          <p:cNvSpPr/>
          <p:nvPr/>
        </p:nvSpPr>
        <p:spPr>
          <a:xfrm>
            <a:off x="4892040" y="354787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Input vs output tokens, model distribution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6"/>
          <p:cNvSpPr/>
          <p:nvPr/>
        </p:nvSpPr>
        <p:spPr>
          <a:xfrm>
            <a:off x="4754880" y="3931920"/>
            <a:ext cx="406908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6"/>
          <p:cNvSpPr/>
          <p:nvPr/>
        </p:nvSpPr>
        <p:spPr>
          <a:xfrm>
            <a:off x="4892040" y="3986784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Custom A/B tags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6"/>
          <p:cNvSpPr/>
          <p:nvPr/>
        </p:nvSpPr>
        <p:spPr>
          <a:xfrm>
            <a:off x="4892040" y="420624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Tag mỗi trace với experiment version để so sánh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6"/>
          <p:cNvSpPr/>
          <p:nvPr/>
        </p:nvSpPr>
        <p:spPr>
          <a:xfrm>
            <a:off x="320040" y="48646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AICB-P2T2 · Ngày 22 · VinUniversity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6"/>
          <p:cNvSpPr/>
          <p:nvPr/>
        </p:nvSpPr>
        <p:spPr>
          <a:xfrm>
            <a:off x="80467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16 / 37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6B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7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7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PHẦN 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7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Prompt Hub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7"/>
          <p:cNvSpPr/>
          <p:nvPr/>
        </p:nvSpPr>
        <p:spPr>
          <a:xfrm>
            <a:off x="457200" y="25786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9CC8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7B9CC8"/>
                </a:solidFill>
                <a:latin typeface="Arial"/>
                <a:ea typeface="Arial"/>
                <a:cs typeface="Arial"/>
                <a:sym typeface="Arial"/>
              </a:rPr>
              <a:t>Version Control cho Prompts — Tại Sao Quan Trọng?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8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8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Tại Sao Phải Version Control Prompts?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8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BD4"/>
                </a:solidFill>
                <a:latin typeface="Arial"/>
                <a:ea typeface="Arial"/>
                <a:cs typeface="Arial"/>
                <a:sym typeface="Arial"/>
              </a:rPr>
              <a:t>Section 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8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8"/>
          <p:cNvSpPr/>
          <p:nvPr/>
        </p:nvSpPr>
        <p:spPr>
          <a:xfrm>
            <a:off x="320040" y="914400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Prompt là code. Nếu bạn không track changes, bạn đang vận hành trong bóng tối.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8"/>
          <p:cNvSpPr/>
          <p:nvPr/>
        </p:nvSpPr>
        <p:spPr>
          <a:xfrm>
            <a:off x="320040" y="1298448"/>
            <a:ext cx="4069080" cy="3337560"/>
          </a:xfrm>
          <a:prstGeom prst="rect">
            <a:avLst/>
          </a:prstGeom>
          <a:solidFill>
            <a:srgbClr val="FFF0F0"/>
          </a:solidFill>
          <a:ln cap="flat" cmpd="sng" w="9525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8"/>
          <p:cNvSpPr/>
          <p:nvPr/>
        </p:nvSpPr>
        <p:spPr>
          <a:xfrm>
            <a:off x="320040" y="1298448"/>
            <a:ext cx="4069080" cy="329184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8"/>
          <p:cNvSpPr/>
          <p:nvPr/>
        </p:nvSpPr>
        <p:spPr>
          <a:xfrm>
            <a:off x="457200" y="1344168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Vấn Đề Khi Không Version Control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8"/>
          <p:cNvSpPr/>
          <p:nvPr/>
        </p:nvSpPr>
        <p:spPr>
          <a:xfrm>
            <a:off x="457200" y="1737360"/>
            <a:ext cx="379476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202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B2020"/>
                </a:solidFill>
                <a:latin typeface="Arial"/>
                <a:ea typeface="Arial"/>
                <a:cs typeface="Arial"/>
                <a:sym typeface="Arial"/>
              </a:rPr>
              <a:t>✕  Prompt bị edit trực tiếp → không biết ai thay đổi gì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202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B2020"/>
                </a:solidFill>
                <a:latin typeface="Arial"/>
                <a:ea typeface="Arial"/>
                <a:cs typeface="Arial"/>
                <a:sym typeface="Arial"/>
              </a:rPr>
              <a:t>✕  Cost tăng 200% → không tìm ra nguyên nhân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202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B2020"/>
                </a:solidFill>
                <a:latin typeface="Arial"/>
                <a:ea typeface="Arial"/>
                <a:cs typeface="Arial"/>
                <a:sym typeface="Arial"/>
              </a:rPr>
              <a:t>✕  Latency tăng 3x → không rollback được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202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B2020"/>
                </a:solidFill>
                <a:latin typeface="Arial"/>
                <a:ea typeface="Arial"/>
                <a:cs typeface="Arial"/>
                <a:sym typeface="Arial"/>
              </a:rPr>
              <a:t>✕  A/B test không chính xác → 2 versions bị trộn lẫn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202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B2020"/>
                </a:solidFill>
                <a:latin typeface="Arial"/>
                <a:ea typeface="Arial"/>
                <a:cs typeface="Arial"/>
                <a:sym typeface="Arial"/>
              </a:rPr>
              <a:t>✕  Onboarding mới → không biết prompt nào đang dùng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202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B2020"/>
                </a:solidFill>
                <a:latin typeface="Arial"/>
                <a:ea typeface="Arial"/>
                <a:cs typeface="Arial"/>
                <a:sym typeface="Arial"/>
              </a:rPr>
              <a:t>✕  Bug production → không reproduce được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8"/>
          <p:cNvSpPr/>
          <p:nvPr/>
        </p:nvSpPr>
        <p:spPr>
          <a:xfrm>
            <a:off x="4754880" y="1298448"/>
            <a:ext cx="4069080" cy="3337560"/>
          </a:xfrm>
          <a:prstGeom prst="rect">
            <a:avLst/>
          </a:prstGeom>
          <a:solidFill>
            <a:srgbClr val="F0FFF4"/>
          </a:solidFill>
          <a:ln cap="flat" cmpd="sng" w="9525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8"/>
          <p:cNvSpPr/>
          <p:nvPr/>
        </p:nvSpPr>
        <p:spPr>
          <a:xfrm>
            <a:off x="4754880" y="1298448"/>
            <a:ext cx="4069080" cy="329184"/>
          </a:xfrm>
          <a:prstGeom prst="rect">
            <a:avLst/>
          </a:prstGeom>
          <a:solidFill>
            <a:srgbClr val="1A7A4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8"/>
          <p:cNvSpPr/>
          <p:nvPr/>
        </p:nvSpPr>
        <p:spPr>
          <a:xfrm>
            <a:off x="4892040" y="1344168"/>
            <a:ext cx="3794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Với Prompt Versioning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8"/>
          <p:cNvSpPr/>
          <p:nvPr/>
        </p:nvSpPr>
        <p:spPr>
          <a:xfrm>
            <a:off x="4892040" y="1737360"/>
            <a:ext cx="379476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4A2A"/>
                </a:solidFill>
                <a:latin typeface="Arial"/>
                <a:ea typeface="Arial"/>
                <a:cs typeface="Arial"/>
                <a:sym typeface="Arial"/>
              </a:rPr>
              <a:t>✓  Mỗi thay đổi có commit message rõ ràng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4A2A"/>
                </a:solidFill>
                <a:latin typeface="Arial"/>
                <a:ea typeface="Arial"/>
                <a:cs typeface="Arial"/>
                <a:sym typeface="Arial"/>
              </a:rPr>
              <a:t>✓  Pin exact version bằng hash trong production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4A2A"/>
                </a:solidFill>
                <a:latin typeface="Arial"/>
                <a:ea typeface="Arial"/>
                <a:cs typeface="Arial"/>
                <a:sym typeface="Arial"/>
              </a:rPr>
              <a:t>✓  Rollback 1-click khi có incident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4A2A"/>
                </a:solidFill>
                <a:latin typeface="Arial"/>
                <a:ea typeface="Arial"/>
                <a:cs typeface="Arial"/>
                <a:sym typeface="Arial"/>
              </a:rPr>
              <a:t>✓  A/B test chính xác với isolated versions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4A2A"/>
                </a:solidFill>
                <a:latin typeface="Arial"/>
                <a:ea typeface="Arial"/>
                <a:cs typeface="Arial"/>
                <a:sym typeface="Arial"/>
              </a:rPr>
              <a:t>✓  Team review prompt changes như review code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4A2A"/>
                </a:solidFill>
                <a:latin typeface="Arial"/>
                <a:ea typeface="Arial"/>
                <a:cs typeface="Arial"/>
                <a:sym typeface="Arial"/>
              </a:rPr>
              <a:t>✓  Full audit trail: ai, khi nào, thay gì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8"/>
          <p:cNvSpPr/>
          <p:nvPr/>
        </p:nvSpPr>
        <p:spPr>
          <a:xfrm>
            <a:off x="320040" y="48646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AICB-P2T2 · Ngày 22 · VinUniversity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8"/>
          <p:cNvSpPr/>
          <p:nvPr/>
        </p:nvSpPr>
        <p:spPr>
          <a:xfrm>
            <a:off x="80467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18 / 37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9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9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LangSmith Prompt Hub — Pull, Push, Pin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9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BD4"/>
                </a:solidFill>
                <a:latin typeface="Arial"/>
                <a:ea typeface="Arial"/>
                <a:cs typeface="Arial"/>
                <a:sym typeface="Arial"/>
              </a:rPr>
              <a:t>Section 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9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9"/>
          <p:cNvSpPr/>
          <p:nvPr/>
        </p:nvSpPr>
        <p:spPr>
          <a:xfrm>
            <a:off x="320040" y="841248"/>
            <a:ext cx="5486400" cy="4041648"/>
          </a:xfrm>
          <a:prstGeom prst="rect">
            <a:avLst/>
          </a:prstGeom>
          <a:solidFill>
            <a:srgbClr val="1A2D4A"/>
          </a:solidFill>
          <a:ln cap="flat" cmpd="sng" w="9525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9"/>
          <p:cNvSpPr/>
          <p:nvPr/>
        </p:nvSpPr>
        <p:spPr>
          <a:xfrm>
            <a:off x="457200" y="932688"/>
            <a:ext cx="5212080" cy="3858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from langchain import hub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# ── PULL ──────────────────────────────────────────────────────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# Pull latest version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prompt = hub.pull("my-org/rag-system-prompt")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# Pin exact version using commit hash (PRODUCTION BEST PRACTICE)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prompt = hub.pull("my-org/rag-system-prompt:abc123de")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# Use the prompt in a chain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chain = prompt | llm | StrOutputParser()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result = chain.invoke({"context": docs, "question": q})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# ── PUSH ──────────────────────────────────────────────────────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from langchain.prompts import ChatPromptTemplate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new_prompt = ChatPromptTemplate.from_messages([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("system", "You are a helpful assistant. Language: {language}.\n\nContext:\n{context}"),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("human", "{question}")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hub.push(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"my-org/rag-system-prompt",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new_prompt,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new_commit_message="feat: Add language param, tighten answer length"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9"/>
          <p:cNvSpPr/>
          <p:nvPr/>
        </p:nvSpPr>
        <p:spPr>
          <a:xfrm>
            <a:off x="5989320" y="914400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Best Practices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9"/>
          <p:cNvSpPr/>
          <p:nvPr/>
        </p:nvSpPr>
        <p:spPr>
          <a:xfrm>
            <a:off x="5989320" y="1298448"/>
            <a:ext cx="283464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9"/>
          <p:cNvSpPr/>
          <p:nvPr/>
        </p:nvSpPr>
        <p:spPr>
          <a:xfrm>
            <a:off x="6108192" y="1389888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Pin hash trong prod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9"/>
          <p:cNvSpPr/>
          <p:nvPr/>
        </p:nvSpPr>
        <p:spPr>
          <a:xfrm>
            <a:off x="6108192" y="1645920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Dùng :hash để lock version, không bị surprise update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9"/>
          <p:cNvSpPr/>
          <p:nvPr/>
        </p:nvSpPr>
        <p:spPr>
          <a:xfrm>
            <a:off x="5989320" y="2194560"/>
            <a:ext cx="283464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9"/>
          <p:cNvSpPr/>
          <p:nvPr/>
        </p:nvSpPr>
        <p:spPr>
          <a:xfrm>
            <a:off x="6108192" y="2286000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Commit messages rõ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9"/>
          <p:cNvSpPr/>
          <p:nvPr/>
        </p:nvSpPr>
        <p:spPr>
          <a:xfrm>
            <a:off x="6108192" y="2542032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feat/fix/refactor prefix như Git conventional commits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9"/>
          <p:cNvSpPr/>
          <p:nvPr/>
        </p:nvSpPr>
        <p:spPr>
          <a:xfrm>
            <a:off x="5989320" y="3090672"/>
            <a:ext cx="283464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9"/>
          <p:cNvSpPr/>
          <p:nvPr/>
        </p:nvSpPr>
        <p:spPr>
          <a:xfrm>
            <a:off x="6108192" y="3182112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Typed variables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9"/>
          <p:cNvSpPr/>
          <p:nvPr/>
        </p:nvSpPr>
        <p:spPr>
          <a:xfrm>
            <a:off x="6108192" y="3438144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Dùng {context}, {question} — dễ validate input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9"/>
          <p:cNvSpPr/>
          <p:nvPr/>
        </p:nvSpPr>
        <p:spPr>
          <a:xfrm>
            <a:off x="5989320" y="3986784"/>
            <a:ext cx="283464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9"/>
          <p:cNvSpPr/>
          <p:nvPr/>
        </p:nvSpPr>
        <p:spPr>
          <a:xfrm>
            <a:off x="6108192" y="4078224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Team review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9"/>
          <p:cNvSpPr/>
          <p:nvPr/>
        </p:nvSpPr>
        <p:spPr>
          <a:xfrm>
            <a:off x="6108192" y="4334256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PR process: 1 người push, 1 người review trước deploy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9"/>
          <p:cNvSpPr/>
          <p:nvPr/>
        </p:nvSpPr>
        <p:spPr>
          <a:xfrm>
            <a:off x="320040" y="48646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AICB-P2T2 · Ngày 22 · VinUniversity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9"/>
          <p:cNvSpPr/>
          <p:nvPr/>
        </p:nvSpPr>
        <p:spPr>
          <a:xfrm>
            <a:off x="80467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19 / 37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0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A/B Testing Prompts — Workflow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0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BD4"/>
                </a:solidFill>
                <a:latin typeface="Arial"/>
                <a:ea typeface="Arial"/>
                <a:cs typeface="Arial"/>
                <a:sym typeface="Arial"/>
              </a:rPr>
              <a:t>Section 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0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0"/>
          <p:cNvSpPr/>
          <p:nvPr/>
        </p:nvSpPr>
        <p:spPr>
          <a:xfrm>
            <a:off x="3474720" y="1005840"/>
            <a:ext cx="2194560" cy="54864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0"/>
          <p:cNvSpPr/>
          <p:nvPr/>
        </p:nvSpPr>
        <p:spPr>
          <a:xfrm>
            <a:off x="3474720" y="886978"/>
            <a:ext cx="21945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Traffic Router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(request_id hash % 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5" name="Google Shape;545;p20"/>
          <p:cNvCxnSpPr>
            <a:stCxn id="546" idx="0"/>
            <a:endCxn id="544" idx="2"/>
          </p:cNvCxnSpPr>
          <p:nvPr/>
        </p:nvCxnSpPr>
        <p:spPr>
          <a:xfrm flipH="1" rot="10800000">
            <a:off x="2103120" y="1399128"/>
            <a:ext cx="2469000" cy="539400"/>
          </a:xfrm>
          <a:prstGeom prst="straightConnector1">
            <a:avLst/>
          </a:prstGeom>
          <a:noFill/>
          <a:ln cap="flat" cmpd="sng" w="12700">
            <a:solidFill>
              <a:srgbClr val="4A5D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7" name="Google Shape;547;p20"/>
          <p:cNvSpPr/>
          <p:nvPr/>
        </p:nvSpPr>
        <p:spPr>
          <a:xfrm>
            <a:off x="2651740" y="1536263"/>
            <a:ext cx="457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8" name="Google Shape;548;p20"/>
          <p:cNvCxnSpPr>
            <a:stCxn id="544" idx="2"/>
            <a:endCxn id="549" idx="0"/>
          </p:cNvCxnSpPr>
          <p:nvPr/>
        </p:nvCxnSpPr>
        <p:spPr>
          <a:xfrm>
            <a:off x="4571970" y="1399078"/>
            <a:ext cx="2469000" cy="539400"/>
          </a:xfrm>
          <a:prstGeom prst="straightConnector1">
            <a:avLst/>
          </a:prstGeom>
          <a:noFill/>
          <a:ln cap="flat" cmpd="sng" w="12700">
            <a:solidFill>
              <a:srgbClr val="4A5D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0" name="Google Shape;550;p20"/>
          <p:cNvSpPr/>
          <p:nvPr/>
        </p:nvSpPr>
        <p:spPr>
          <a:xfrm>
            <a:off x="6099960" y="1536200"/>
            <a:ext cx="457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0"/>
          <p:cNvSpPr/>
          <p:nvPr/>
        </p:nvSpPr>
        <p:spPr>
          <a:xfrm>
            <a:off x="914400" y="1938528"/>
            <a:ext cx="2377440" cy="822960"/>
          </a:xfrm>
          <a:prstGeom prst="rect">
            <a:avLst/>
          </a:prstGeom>
          <a:solidFill>
            <a:srgbClr val="E8EEF8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0"/>
          <p:cNvSpPr/>
          <p:nvPr/>
        </p:nvSpPr>
        <p:spPr>
          <a:xfrm>
            <a:off x="914400" y="2011680"/>
            <a:ext cx="23774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Prompt v1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(concise style)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0"/>
          <p:cNvSpPr/>
          <p:nvPr/>
        </p:nvSpPr>
        <p:spPr>
          <a:xfrm>
            <a:off x="5852160" y="1938528"/>
            <a:ext cx="2377440" cy="822960"/>
          </a:xfrm>
          <a:prstGeom prst="rect">
            <a:avLst/>
          </a:prstGeom>
          <a:solidFill>
            <a:srgbClr val="FEF3E8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0"/>
          <p:cNvSpPr/>
          <p:nvPr/>
        </p:nvSpPr>
        <p:spPr>
          <a:xfrm>
            <a:off x="5852160" y="2011680"/>
            <a:ext cx="23774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Prompt v2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(detailed style)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3" name="Google Shape;553;p20"/>
          <p:cNvCxnSpPr>
            <a:endCxn id="554" idx="1"/>
          </p:cNvCxnSpPr>
          <p:nvPr/>
        </p:nvCxnSpPr>
        <p:spPr>
          <a:xfrm>
            <a:off x="2103060" y="2761440"/>
            <a:ext cx="548700" cy="759000"/>
          </a:xfrm>
          <a:prstGeom prst="straightConnector1">
            <a:avLst/>
          </a:prstGeom>
          <a:noFill/>
          <a:ln cap="flat" cmpd="sng" w="12700">
            <a:solidFill>
              <a:srgbClr val="4A5D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5" name="Google Shape;555;p20"/>
          <p:cNvCxnSpPr>
            <a:endCxn id="554" idx="3"/>
          </p:cNvCxnSpPr>
          <p:nvPr/>
        </p:nvCxnSpPr>
        <p:spPr>
          <a:xfrm flipH="1">
            <a:off x="6492240" y="2761440"/>
            <a:ext cx="548700" cy="759000"/>
          </a:xfrm>
          <a:prstGeom prst="straightConnector1">
            <a:avLst/>
          </a:prstGeom>
          <a:noFill/>
          <a:ln cap="flat" cmpd="sng" w="12700">
            <a:solidFill>
              <a:srgbClr val="4A5D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6" name="Google Shape;556;p20"/>
          <p:cNvSpPr/>
          <p:nvPr/>
        </p:nvSpPr>
        <p:spPr>
          <a:xfrm>
            <a:off x="2651760" y="3127248"/>
            <a:ext cx="3840480" cy="77724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0"/>
          <p:cNvSpPr/>
          <p:nvPr/>
        </p:nvSpPr>
        <p:spPr>
          <a:xfrm>
            <a:off x="2651760" y="320040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7A4A"/>
                </a:solidFill>
                <a:latin typeface="Arial"/>
                <a:ea typeface="Arial"/>
                <a:cs typeface="Arial"/>
                <a:sym typeface="Arial"/>
              </a:rPr>
              <a:t>Evaluation: faithfulness · relevance · cost · latency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0"/>
          <p:cNvSpPr/>
          <p:nvPr/>
        </p:nvSpPr>
        <p:spPr>
          <a:xfrm>
            <a:off x="320040" y="4421013"/>
            <a:ext cx="8503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Best practice: Thu thập &gt; 100 queries trước khi kết luận. Tag mỗi trace với prompt version trong LangSmith để so sánh chính xác.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0"/>
          <p:cNvSpPr/>
          <p:nvPr/>
        </p:nvSpPr>
        <p:spPr>
          <a:xfrm>
            <a:off x="320040" y="48646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AICB-P2T2 · Ngày 22 · VinUniversity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0"/>
          <p:cNvSpPr/>
          <p:nvPr/>
        </p:nvSpPr>
        <p:spPr>
          <a:xfrm>
            <a:off x="80467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20 / 37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1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Git-Native Alternative — YAML Prompts Trong Repo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BD4"/>
                </a:solidFill>
                <a:latin typeface="Arial"/>
                <a:ea typeface="Arial"/>
                <a:cs typeface="Arial"/>
                <a:sym typeface="Arial"/>
              </a:rPr>
              <a:t>Section 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1"/>
          <p:cNvSpPr/>
          <p:nvPr/>
        </p:nvSpPr>
        <p:spPr>
          <a:xfrm>
            <a:off x="320040" y="91440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Nếu team dùng monorepo hoặc không muốn dùng Prompt Hub: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1"/>
          <p:cNvSpPr/>
          <p:nvPr/>
        </p:nvSpPr>
        <p:spPr>
          <a:xfrm>
            <a:off x="320040" y="1261872"/>
            <a:ext cx="5029200" cy="3639312"/>
          </a:xfrm>
          <a:prstGeom prst="rect">
            <a:avLst/>
          </a:prstGeom>
          <a:solidFill>
            <a:srgbClr val="1A2D4A"/>
          </a:solidFill>
          <a:ln cap="flat" cmpd="sng" w="9525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1"/>
          <p:cNvSpPr/>
          <p:nvPr/>
        </p:nvSpPr>
        <p:spPr>
          <a:xfrm>
            <a:off x="457200" y="1353312"/>
            <a:ext cx="4754880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# prompts/rag-system-prompt.yaml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name: rag-system-prompt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version: "1.3.0"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description: "RAG system prompt with language support"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variables: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- context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- question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- language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template: |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You are a helpful assistant that answers questions based 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the provided context. Always respond in {language}.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Context: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{context}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Rules: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- Answer ONLY based on the context above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- If answer not in context, say "I don't know"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- Keep answers under 200 words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Question: {question}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1"/>
          <p:cNvSpPr/>
          <p:nvPr/>
        </p:nvSpPr>
        <p:spPr>
          <a:xfrm>
            <a:off x="5577840" y="1261872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Workflow với Git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1"/>
          <p:cNvSpPr/>
          <p:nvPr/>
        </p:nvSpPr>
        <p:spPr>
          <a:xfrm>
            <a:off x="5577840" y="1600200"/>
            <a:ext cx="324612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→  Prompts stored trong /prompts/*.yaml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→  Mọi thay đổi qua Pull Request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→  CI tự động test prompt khi có changes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→  Load prompt từ YAML thay vì hardcode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→  Diff rõ ràng trong GitHub/GitLab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→  Phù hợp cho team không muốn thêm tool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1"/>
          <p:cNvSpPr/>
          <p:nvPr/>
        </p:nvSpPr>
        <p:spPr>
          <a:xfrm>
            <a:off x="5577840" y="4187952"/>
            <a:ext cx="3246120" cy="548640"/>
          </a:xfrm>
          <a:prstGeom prst="rect">
            <a:avLst/>
          </a:prstGeom>
          <a:solidFill>
            <a:srgbClr val="E8EEF8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1"/>
          <p:cNvSpPr/>
          <p:nvPr/>
        </p:nvSpPr>
        <p:spPr>
          <a:xfrm>
            <a:off x="5669280" y="4224528"/>
            <a:ext cx="3063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Khi nào dùng Prompt Hub vs Git?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Prompt Hub: team lớn, cần UI review, A/B test tự động.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Git YAML: dev-centric, monorepo, CI/CD tight integration.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1"/>
          <p:cNvSpPr/>
          <p:nvPr/>
        </p:nvSpPr>
        <p:spPr>
          <a:xfrm>
            <a:off x="80467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21 / 37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6B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2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PHẦN 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2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 Evaluation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2"/>
          <p:cNvSpPr/>
          <p:nvPr/>
        </p:nvSpPr>
        <p:spPr>
          <a:xfrm>
            <a:off x="457200" y="25786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9CC8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7B9CC8"/>
                </a:solidFill>
                <a:latin typeface="Arial"/>
                <a:ea typeface="Arial"/>
                <a:cs typeface="Arial"/>
                <a:sym typeface="Arial"/>
              </a:rPr>
              <a:t>Vượt Ra Ngoài Accuracy — Đo Lường Chất Lượng Thực Sự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3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3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Tại Sao Accuracy Không Đủ Cho LLM?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3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BD4"/>
                </a:solidFill>
                <a:latin typeface="Arial"/>
                <a:ea typeface="Arial"/>
                <a:cs typeface="Arial"/>
                <a:sym typeface="Arial"/>
              </a:rPr>
              <a:t>Section 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3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3"/>
          <p:cNvSpPr/>
          <p:nvPr/>
        </p:nvSpPr>
        <p:spPr>
          <a:xfrm>
            <a:off x="320040" y="914400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Ví dụ: model có accuracy 95% nhưng vẫn gây hại nếu 5% còn lại là hallucination trong context y tế.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3"/>
          <p:cNvSpPr/>
          <p:nvPr/>
        </p:nvSpPr>
        <p:spPr>
          <a:xfrm>
            <a:off x="320040" y="1325880"/>
            <a:ext cx="4160520" cy="15179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3"/>
          <p:cNvSpPr/>
          <p:nvPr/>
        </p:nvSpPr>
        <p:spPr>
          <a:xfrm>
            <a:off x="320040" y="1325880"/>
            <a:ext cx="54864" cy="1517904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3"/>
          <p:cNvSpPr/>
          <p:nvPr/>
        </p:nvSpPr>
        <p:spPr>
          <a:xfrm>
            <a:off x="502920" y="146304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Hallucination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3"/>
          <p:cNvSpPr/>
          <p:nvPr/>
        </p:nvSpPr>
        <p:spPr>
          <a:xfrm>
            <a:off x="502920" y="1783080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Model trả lời sai nhưng nghe rất thuyết phục. Accuracy không phát hiện được vì không có ground truth.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3"/>
          <p:cNvSpPr/>
          <p:nvPr/>
        </p:nvSpPr>
        <p:spPr>
          <a:xfrm>
            <a:off x="4690872" y="1325880"/>
            <a:ext cx="4160520" cy="15179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3"/>
          <p:cNvSpPr/>
          <p:nvPr/>
        </p:nvSpPr>
        <p:spPr>
          <a:xfrm>
            <a:off x="4690872" y="1325880"/>
            <a:ext cx="54864" cy="1517904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3"/>
          <p:cNvSpPr/>
          <p:nvPr/>
        </p:nvSpPr>
        <p:spPr>
          <a:xfrm>
            <a:off x="4873752" y="146304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rPr>
              <a:t>Off-topic answers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3"/>
          <p:cNvSpPr/>
          <p:nvPr/>
        </p:nvSpPr>
        <p:spPr>
          <a:xfrm>
            <a:off x="4873752" y="1783080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Model trả lời đúng ngữ pháp, coherent — nhưng không liên quan câu hỏi. Accuracy bỏ qua.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3"/>
          <p:cNvSpPr/>
          <p:nvPr/>
        </p:nvSpPr>
        <p:spPr>
          <a:xfrm>
            <a:off x="320040" y="2990088"/>
            <a:ext cx="4160520" cy="15179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3"/>
          <p:cNvSpPr/>
          <p:nvPr/>
        </p:nvSpPr>
        <p:spPr>
          <a:xfrm>
            <a:off x="320040" y="2990088"/>
            <a:ext cx="54864" cy="1517904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3"/>
          <p:cNvSpPr/>
          <p:nvPr/>
        </p:nvSpPr>
        <p:spPr>
          <a:xfrm>
            <a:off x="502920" y="312724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Context mismatch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3"/>
          <p:cNvSpPr/>
          <p:nvPr/>
        </p:nvSpPr>
        <p:spPr>
          <a:xfrm>
            <a:off x="502920" y="3447288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Trong RAG: model ignore retrieved context, dùng parametric knowledge → bịa ra từ training data.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3"/>
          <p:cNvSpPr/>
          <p:nvPr/>
        </p:nvSpPr>
        <p:spPr>
          <a:xfrm>
            <a:off x="4690872" y="2990088"/>
            <a:ext cx="4160520" cy="15179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3"/>
          <p:cNvSpPr/>
          <p:nvPr/>
        </p:nvSpPr>
        <p:spPr>
          <a:xfrm>
            <a:off x="4690872" y="2990088"/>
            <a:ext cx="54864" cy="1517904"/>
          </a:xfrm>
          <a:prstGeom prst="rect">
            <a:avLst/>
          </a:prstGeom>
          <a:solidFill>
            <a:srgbClr val="8B2FC9"/>
          </a:solidFill>
          <a:ln cap="flat" cmpd="sng" w="12700">
            <a:solidFill>
              <a:srgbClr val="8B2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3"/>
          <p:cNvSpPr/>
          <p:nvPr/>
        </p:nvSpPr>
        <p:spPr>
          <a:xfrm>
            <a:off x="4873752" y="312724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2FC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8B2FC9"/>
                </a:solidFill>
                <a:latin typeface="Arial"/>
                <a:ea typeface="Arial"/>
                <a:cs typeface="Arial"/>
                <a:sym typeface="Arial"/>
              </a:rPr>
              <a:t>Format non-compliance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3"/>
          <p:cNvSpPr/>
          <p:nvPr/>
        </p:nvSpPr>
        <p:spPr>
          <a:xfrm>
            <a:off x="4873752" y="3447288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Model không trả JSON khi được yêu cầu. Accuracy đo text match — miss hoàn toàn format errors.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3"/>
          <p:cNvSpPr/>
          <p:nvPr/>
        </p:nvSpPr>
        <p:spPr>
          <a:xfrm>
            <a:off x="320040" y="48646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AICB-P2T2 · Ngày 22 · VinUniversity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3"/>
          <p:cNvSpPr/>
          <p:nvPr/>
        </p:nvSpPr>
        <p:spPr>
          <a:xfrm>
            <a:off x="80467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23 / 37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4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4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RAGAS — RAG Evaluation Metrics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4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BD4"/>
                </a:solidFill>
                <a:latin typeface="Arial"/>
                <a:ea typeface="Arial"/>
                <a:cs typeface="Arial"/>
                <a:sym typeface="Arial"/>
              </a:rPr>
              <a:t>Section 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4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4"/>
          <p:cNvSpPr/>
          <p:nvPr/>
        </p:nvSpPr>
        <p:spPr>
          <a:xfrm>
            <a:off x="320040" y="822960"/>
            <a:ext cx="1645920" cy="694944"/>
          </a:xfrm>
          <a:prstGeom prst="rect">
            <a:avLst/>
          </a:prstGeom>
          <a:solidFill>
            <a:srgbClr val="1B3A6B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4"/>
          <p:cNvSpPr/>
          <p:nvPr/>
        </p:nvSpPr>
        <p:spPr>
          <a:xfrm>
            <a:off x="393192" y="859536"/>
            <a:ext cx="149961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Metric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4"/>
          <p:cNvSpPr/>
          <p:nvPr/>
        </p:nvSpPr>
        <p:spPr>
          <a:xfrm>
            <a:off x="2011680" y="822960"/>
            <a:ext cx="2468880" cy="694944"/>
          </a:xfrm>
          <a:prstGeom prst="rect">
            <a:avLst/>
          </a:prstGeom>
          <a:solidFill>
            <a:srgbClr val="1B3A6B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4"/>
          <p:cNvSpPr/>
          <p:nvPr/>
        </p:nvSpPr>
        <p:spPr>
          <a:xfrm>
            <a:off x="2084832" y="859536"/>
            <a:ext cx="232257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Đo Gì?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4"/>
          <p:cNvSpPr/>
          <p:nvPr/>
        </p:nvSpPr>
        <p:spPr>
          <a:xfrm>
            <a:off x="4526280" y="822960"/>
            <a:ext cx="2560320" cy="694944"/>
          </a:xfrm>
          <a:prstGeom prst="rect">
            <a:avLst/>
          </a:prstGeom>
          <a:solidFill>
            <a:srgbClr val="1B3A6B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4"/>
          <p:cNvSpPr/>
          <p:nvPr/>
        </p:nvSpPr>
        <p:spPr>
          <a:xfrm>
            <a:off x="4599432" y="859536"/>
            <a:ext cx="241401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Cách Tính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4"/>
          <p:cNvSpPr/>
          <p:nvPr/>
        </p:nvSpPr>
        <p:spPr>
          <a:xfrm>
            <a:off x="7132320" y="822960"/>
            <a:ext cx="1463040" cy="694944"/>
          </a:xfrm>
          <a:prstGeom prst="rect">
            <a:avLst/>
          </a:prstGeom>
          <a:solidFill>
            <a:srgbClr val="1B3A6B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4"/>
          <p:cNvSpPr/>
          <p:nvPr/>
        </p:nvSpPr>
        <p:spPr>
          <a:xfrm>
            <a:off x="7205472" y="859536"/>
            <a:ext cx="131673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Target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4"/>
          <p:cNvSpPr/>
          <p:nvPr/>
        </p:nvSpPr>
        <p:spPr>
          <a:xfrm>
            <a:off x="320040" y="1517904"/>
            <a:ext cx="1645920" cy="6949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4"/>
          <p:cNvSpPr/>
          <p:nvPr/>
        </p:nvSpPr>
        <p:spPr>
          <a:xfrm>
            <a:off x="393192" y="1554480"/>
            <a:ext cx="149961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Faithfulness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4"/>
          <p:cNvSpPr/>
          <p:nvPr/>
        </p:nvSpPr>
        <p:spPr>
          <a:xfrm>
            <a:off x="2011680" y="1517904"/>
            <a:ext cx="2468880" cy="6949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4"/>
          <p:cNvSpPr/>
          <p:nvPr/>
        </p:nvSpPr>
        <p:spPr>
          <a:xfrm>
            <a:off x="2084832" y="1554480"/>
            <a:ext cx="232257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Output có dựa trên context không? (Hallucination detection)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4"/>
          <p:cNvSpPr/>
          <p:nvPr/>
        </p:nvSpPr>
        <p:spPr>
          <a:xfrm>
            <a:off x="4526280" y="1517904"/>
            <a:ext cx="2560320" cy="6949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4"/>
          <p:cNvSpPr/>
          <p:nvPr/>
        </p:nvSpPr>
        <p:spPr>
          <a:xfrm>
            <a:off x="4599432" y="1554480"/>
            <a:ext cx="241401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% statements trong answer có thể verify từ context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4"/>
          <p:cNvSpPr/>
          <p:nvPr/>
        </p:nvSpPr>
        <p:spPr>
          <a:xfrm>
            <a:off x="7132320" y="1517904"/>
            <a:ext cx="1463040" cy="6949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4"/>
          <p:cNvSpPr/>
          <p:nvPr/>
        </p:nvSpPr>
        <p:spPr>
          <a:xfrm>
            <a:off x="7205472" y="1554480"/>
            <a:ext cx="131673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7A4A"/>
                </a:solidFill>
                <a:latin typeface="Arial"/>
                <a:ea typeface="Arial"/>
                <a:cs typeface="Arial"/>
                <a:sym typeface="Arial"/>
              </a:rPr>
              <a:t>&gt; 0.8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4"/>
          <p:cNvSpPr/>
          <p:nvPr/>
        </p:nvSpPr>
        <p:spPr>
          <a:xfrm>
            <a:off x="320040" y="2212848"/>
            <a:ext cx="1645920" cy="694944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4"/>
          <p:cNvSpPr/>
          <p:nvPr/>
        </p:nvSpPr>
        <p:spPr>
          <a:xfrm>
            <a:off x="393192" y="2249424"/>
            <a:ext cx="149961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Answer Relevance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4"/>
          <p:cNvSpPr/>
          <p:nvPr/>
        </p:nvSpPr>
        <p:spPr>
          <a:xfrm>
            <a:off x="2011680" y="2212848"/>
            <a:ext cx="2468880" cy="694944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4"/>
          <p:cNvSpPr/>
          <p:nvPr/>
        </p:nvSpPr>
        <p:spPr>
          <a:xfrm>
            <a:off x="2084832" y="2249424"/>
            <a:ext cx="232257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Câu trả lời có đúng với câu hỏi không?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4"/>
          <p:cNvSpPr/>
          <p:nvPr/>
        </p:nvSpPr>
        <p:spPr>
          <a:xfrm>
            <a:off x="4526280" y="2212848"/>
            <a:ext cx="2560320" cy="694944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24"/>
          <p:cNvSpPr/>
          <p:nvPr/>
        </p:nvSpPr>
        <p:spPr>
          <a:xfrm>
            <a:off x="4599432" y="2249424"/>
            <a:ext cx="241401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Similarity giữa câu hỏi và câu trả lời (reverse gen)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4"/>
          <p:cNvSpPr/>
          <p:nvPr/>
        </p:nvSpPr>
        <p:spPr>
          <a:xfrm>
            <a:off x="7132320" y="2212848"/>
            <a:ext cx="1463040" cy="694944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4"/>
          <p:cNvSpPr/>
          <p:nvPr/>
        </p:nvSpPr>
        <p:spPr>
          <a:xfrm>
            <a:off x="7205472" y="2249424"/>
            <a:ext cx="131673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7A4A"/>
                </a:solidFill>
                <a:latin typeface="Arial"/>
                <a:ea typeface="Arial"/>
                <a:cs typeface="Arial"/>
                <a:sym typeface="Arial"/>
              </a:rPr>
              <a:t>&gt; 0.75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4"/>
          <p:cNvSpPr/>
          <p:nvPr/>
        </p:nvSpPr>
        <p:spPr>
          <a:xfrm>
            <a:off x="320040" y="2907792"/>
            <a:ext cx="1645920" cy="6949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4"/>
          <p:cNvSpPr/>
          <p:nvPr/>
        </p:nvSpPr>
        <p:spPr>
          <a:xfrm>
            <a:off x="393192" y="2944368"/>
            <a:ext cx="149961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Context Precision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4"/>
          <p:cNvSpPr/>
          <p:nvPr/>
        </p:nvSpPr>
        <p:spPr>
          <a:xfrm>
            <a:off x="2011680" y="2907792"/>
            <a:ext cx="2468880" cy="6949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4"/>
          <p:cNvSpPr/>
          <p:nvPr/>
        </p:nvSpPr>
        <p:spPr>
          <a:xfrm>
            <a:off x="2084832" y="2944368"/>
            <a:ext cx="232257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Chunks retrieved có thực sự liên quan không?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4"/>
          <p:cNvSpPr/>
          <p:nvPr/>
        </p:nvSpPr>
        <p:spPr>
          <a:xfrm>
            <a:off x="4526280" y="2907792"/>
            <a:ext cx="2560320" cy="6949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4"/>
          <p:cNvSpPr/>
          <p:nvPr/>
        </p:nvSpPr>
        <p:spPr>
          <a:xfrm>
            <a:off x="4599432" y="2944368"/>
            <a:ext cx="241401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% retrieved chunks có trong ideal answer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4"/>
          <p:cNvSpPr/>
          <p:nvPr/>
        </p:nvSpPr>
        <p:spPr>
          <a:xfrm>
            <a:off x="7132320" y="2907792"/>
            <a:ext cx="1463040" cy="6949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4"/>
          <p:cNvSpPr/>
          <p:nvPr/>
        </p:nvSpPr>
        <p:spPr>
          <a:xfrm>
            <a:off x="7205472" y="2944368"/>
            <a:ext cx="131673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7A4A"/>
                </a:solidFill>
                <a:latin typeface="Arial"/>
                <a:ea typeface="Arial"/>
                <a:cs typeface="Arial"/>
                <a:sym typeface="Arial"/>
              </a:rPr>
              <a:t>&gt; 0.7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4"/>
          <p:cNvSpPr/>
          <p:nvPr/>
        </p:nvSpPr>
        <p:spPr>
          <a:xfrm>
            <a:off x="320040" y="3602736"/>
            <a:ext cx="1645920" cy="694944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4"/>
          <p:cNvSpPr/>
          <p:nvPr/>
        </p:nvSpPr>
        <p:spPr>
          <a:xfrm>
            <a:off x="393192" y="3639312"/>
            <a:ext cx="149961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Context Recall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4"/>
          <p:cNvSpPr/>
          <p:nvPr/>
        </p:nvSpPr>
        <p:spPr>
          <a:xfrm>
            <a:off x="2011680" y="3602736"/>
            <a:ext cx="2468880" cy="694944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4"/>
          <p:cNvSpPr/>
          <p:nvPr/>
        </p:nvSpPr>
        <p:spPr>
          <a:xfrm>
            <a:off x="2084832" y="3639312"/>
            <a:ext cx="232257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Đủ context để trả lời đúng không?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4"/>
          <p:cNvSpPr/>
          <p:nvPr/>
        </p:nvSpPr>
        <p:spPr>
          <a:xfrm>
            <a:off x="4526280" y="3602736"/>
            <a:ext cx="2560320" cy="694944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4"/>
          <p:cNvSpPr/>
          <p:nvPr/>
        </p:nvSpPr>
        <p:spPr>
          <a:xfrm>
            <a:off x="4599432" y="3639312"/>
            <a:ext cx="241401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% facts trong ground truth có trong context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4"/>
          <p:cNvSpPr/>
          <p:nvPr/>
        </p:nvSpPr>
        <p:spPr>
          <a:xfrm>
            <a:off x="7132320" y="3602736"/>
            <a:ext cx="1463040" cy="694944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4"/>
          <p:cNvSpPr/>
          <p:nvPr/>
        </p:nvSpPr>
        <p:spPr>
          <a:xfrm>
            <a:off x="7205472" y="3639312"/>
            <a:ext cx="131673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7A4A"/>
                </a:solidFill>
                <a:latin typeface="Arial"/>
                <a:ea typeface="Arial"/>
                <a:cs typeface="Arial"/>
                <a:sym typeface="Arial"/>
              </a:rPr>
              <a:t>&gt; 0.8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4"/>
          <p:cNvSpPr/>
          <p:nvPr/>
        </p:nvSpPr>
        <p:spPr>
          <a:xfrm>
            <a:off x="320040" y="48646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AICB-P2T2 · Ngày 22 · VinUniversity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4"/>
          <p:cNvSpPr/>
          <p:nvPr/>
        </p:nvSpPr>
        <p:spPr>
          <a:xfrm>
            <a:off x="80467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24 / 37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5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25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LLM-as-Judge — Scalable Evaluation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5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BD4"/>
                </a:solidFill>
                <a:latin typeface="Arial"/>
                <a:ea typeface="Arial"/>
                <a:cs typeface="Arial"/>
                <a:sym typeface="Arial"/>
              </a:rPr>
              <a:t>Section 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5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5"/>
          <p:cNvSpPr/>
          <p:nvPr/>
        </p:nvSpPr>
        <p:spPr>
          <a:xfrm>
            <a:off x="320040" y="914400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Dùng một LLM mạnh (GPT-</a:t>
            </a:r>
            <a:r>
              <a:rPr lang="en-US" sz="1100">
                <a:solidFill>
                  <a:srgbClr val="4A5D7A"/>
                </a:solidFill>
              </a:rPr>
              <a:t>5</a:t>
            </a:r>
            <a:r>
              <a:rPr b="0" i="0" lang="en-US" sz="11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) để đánh giá output của model nhỏ hơn — scalable hơn human eval 10x.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5"/>
          <p:cNvSpPr/>
          <p:nvPr/>
        </p:nvSpPr>
        <p:spPr>
          <a:xfrm>
            <a:off x="365760" y="1325880"/>
            <a:ext cx="1737360" cy="749808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5"/>
          <p:cNvSpPr/>
          <p:nvPr/>
        </p:nvSpPr>
        <p:spPr>
          <a:xfrm>
            <a:off x="365760" y="1353312"/>
            <a:ext cx="17373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 Context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7" name="Google Shape;677;p25"/>
          <p:cNvCxnSpPr/>
          <p:nvPr/>
        </p:nvCxnSpPr>
        <p:spPr>
          <a:xfrm>
            <a:off x="2103120" y="1700784"/>
            <a:ext cx="640080" cy="0"/>
          </a:xfrm>
          <a:prstGeom prst="straightConnector1">
            <a:avLst/>
          </a:prstGeom>
          <a:noFill/>
          <a:ln cap="flat" cmpd="sng" w="19050">
            <a:solidFill>
              <a:srgbClr val="4A5D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8" name="Google Shape;678;p25"/>
          <p:cNvSpPr/>
          <p:nvPr/>
        </p:nvSpPr>
        <p:spPr>
          <a:xfrm>
            <a:off x="2377440" y="1325880"/>
            <a:ext cx="1737360" cy="749808"/>
          </a:xfrm>
          <a:prstGeom prst="rect">
            <a:avLst/>
          </a:prstGeom>
          <a:solidFill>
            <a:srgbClr val="2E6DA4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5"/>
          <p:cNvSpPr/>
          <p:nvPr/>
        </p:nvSpPr>
        <p:spPr>
          <a:xfrm>
            <a:off x="2377440" y="1353312"/>
            <a:ext cx="17373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Small LLM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(gpt-4o-mini)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0" name="Google Shape;680;p25"/>
          <p:cNvCxnSpPr/>
          <p:nvPr/>
        </p:nvCxnSpPr>
        <p:spPr>
          <a:xfrm>
            <a:off x="4114800" y="1700784"/>
            <a:ext cx="640080" cy="0"/>
          </a:xfrm>
          <a:prstGeom prst="straightConnector1">
            <a:avLst/>
          </a:prstGeom>
          <a:noFill/>
          <a:ln cap="flat" cmpd="sng" w="19050">
            <a:solidFill>
              <a:srgbClr val="4A5D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1" name="Google Shape;681;p25"/>
          <p:cNvSpPr/>
          <p:nvPr/>
        </p:nvSpPr>
        <p:spPr>
          <a:xfrm>
            <a:off x="4389120" y="1325880"/>
            <a:ext cx="1737360" cy="749808"/>
          </a:xfrm>
          <a:prstGeom prst="rect">
            <a:avLst/>
          </a:prstGeom>
          <a:solidFill>
            <a:srgbClr val="1A7A4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5"/>
          <p:cNvSpPr/>
          <p:nvPr/>
        </p:nvSpPr>
        <p:spPr>
          <a:xfrm>
            <a:off x="4389120" y="1353312"/>
            <a:ext cx="17373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generated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3" name="Google Shape;683;p25"/>
          <p:cNvCxnSpPr/>
          <p:nvPr/>
        </p:nvCxnSpPr>
        <p:spPr>
          <a:xfrm>
            <a:off x="6126480" y="1700784"/>
            <a:ext cx="640080" cy="0"/>
          </a:xfrm>
          <a:prstGeom prst="straightConnector1">
            <a:avLst/>
          </a:prstGeom>
          <a:noFill/>
          <a:ln cap="flat" cmpd="sng" w="19050">
            <a:solidFill>
              <a:srgbClr val="4A5D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4" name="Google Shape;684;p25"/>
          <p:cNvSpPr/>
          <p:nvPr/>
        </p:nvSpPr>
        <p:spPr>
          <a:xfrm>
            <a:off x="6400800" y="1325880"/>
            <a:ext cx="1737360" cy="749808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5"/>
          <p:cNvSpPr/>
          <p:nvPr/>
        </p:nvSpPr>
        <p:spPr>
          <a:xfrm>
            <a:off x="6400800" y="1353312"/>
            <a:ext cx="17373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GPT-4o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(Judge)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5"/>
          <p:cNvSpPr/>
          <p:nvPr/>
        </p:nvSpPr>
        <p:spPr>
          <a:xfrm>
            <a:off x="320040" y="2834640"/>
            <a:ext cx="4069080" cy="2029968"/>
          </a:xfrm>
          <a:prstGeom prst="rect">
            <a:avLst/>
          </a:prstGeom>
          <a:solidFill>
            <a:srgbClr val="F0FFF4"/>
          </a:solidFill>
          <a:ln cap="flat" cmpd="sng" w="9525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5"/>
          <p:cNvSpPr/>
          <p:nvPr/>
        </p:nvSpPr>
        <p:spPr>
          <a:xfrm>
            <a:off x="457200" y="290779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7A4A"/>
                </a:solidFill>
                <a:latin typeface="Arial"/>
                <a:ea typeface="Arial"/>
                <a:cs typeface="Arial"/>
                <a:sym typeface="Arial"/>
              </a:rPr>
              <a:t>Ưu Điểm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5"/>
          <p:cNvSpPr/>
          <p:nvPr/>
        </p:nvSpPr>
        <p:spPr>
          <a:xfrm>
            <a:off x="457200" y="3218688"/>
            <a:ext cx="38404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4A2A"/>
                </a:solidFill>
                <a:latin typeface="Arial"/>
                <a:ea typeface="Arial"/>
                <a:cs typeface="Arial"/>
                <a:sym typeface="Arial"/>
              </a:rPr>
              <a:t>✓  Scalable: chạy hàng nghìn evals/ngày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4A2A"/>
                </a:solidFill>
                <a:latin typeface="Arial"/>
                <a:ea typeface="Arial"/>
                <a:cs typeface="Arial"/>
                <a:sym typeface="Arial"/>
              </a:rPr>
              <a:t>✓  Cheap hơn human eval 10-50x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4A2A"/>
                </a:solidFill>
                <a:latin typeface="Arial"/>
                <a:ea typeface="Arial"/>
                <a:cs typeface="Arial"/>
                <a:sym typeface="Arial"/>
              </a:rPr>
              <a:t>✓  Consistent: không bị fatigue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4A2A"/>
                </a:solidFill>
                <a:latin typeface="Arial"/>
                <a:ea typeface="Arial"/>
                <a:cs typeface="Arial"/>
                <a:sym typeface="Arial"/>
              </a:rPr>
              <a:t>✓  Không cần ground truth (reference-free)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4A2A"/>
                </a:solidFill>
                <a:latin typeface="Arial"/>
                <a:ea typeface="Arial"/>
                <a:cs typeface="Arial"/>
                <a:sym typeface="Arial"/>
              </a:rPr>
              <a:t>✓  G-Eval, MT-Bench frameworks sẵn có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5"/>
          <p:cNvSpPr/>
          <p:nvPr/>
        </p:nvSpPr>
        <p:spPr>
          <a:xfrm>
            <a:off x="4754880" y="2834640"/>
            <a:ext cx="4069080" cy="2029968"/>
          </a:xfrm>
          <a:prstGeom prst="rect">
            <a:avLst/>
          </a:prstGeom>
          <a:solidFill>
            <a:srgbClr val="FFF0F0"/>
          </a:solidFill>
          <a:ln cap="flat" cmpd="sng" w="9525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5"/>
          <p:cNvSpPr/>
          <p:nvPr/>
        </p:nvSpPr>
        <p:spPr>
          <a:xfrm>
            <a:off x="4892040" y="290779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Hạn Chế &amp; Cách Xử Lý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5"/>
          <p:cNvSpPr/>
          <p:nvPr/>
        </p:nvSpPr>
        <p:spPr>
          <a:xfrm>
            <a:off x="4892040" y="3218688"/>
            <a:ext cx="38404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202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B2020"/>
                </a:solidFill>
                <a:latin typeface="Arial"/>
                <a:ea typeface="Arial"/>
                <a:cs typeface="Arial"/>
                <a:sym typeface="Arial"/>
              </a:rPr>
              <a:t>!  Bias: LLM judge có positional/verbosity bias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202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B2020"/>
                </a:solidFill>
                <a:latin typeface="Arial"/>
                <a:ea typeface="Arial"/>
                <a:cs typeface="Arial"/>
                <a:sym typeface="Arial"/>
              </a:rPr>
              <a:t>!  Cần calibrate định kỳ với human judgments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202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B2020"/>
                </a:solidFill>
                <a:latin typeface="Arial"/>
                <a:ea typeface="Arial"/>
                <a:cs typeface="Arial"/>
                <a:sym typeface="Arial"/>
              </a:rPr>
              <a:t>!  Đo Cohen's kappa giữa human &amp; LLM judge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202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B2020"/>
                </a:solidFill>
                <a:latin typeface="Arial"/>
                <a:ea typeface="Arial"/>
                <a:cs typeface="Arial"/>
                <a:sym typeface="Arial"/>
              </a:rPr>
              <a:t>!  Không dùng cùng model để judge chính nó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202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B2020"/>
                </a:solidFill>
                <a:latin typeface="Arial"/>
                <a:ea typeface="Arial"/>
                <a:cs typeface="Arial"/>
                <a:sym typeface="Arial"/>
              </a:rPr>
              <a:t>!  Prompt judge cần rất rõ ràng về rubric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5"/>
          <p:cNvSpPr/>
          <p:nvPr/>
        </p:nvSpPr>
        <p:spPr>
          <a:xfrm>
            <a:off x="320040" y="48646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AICB-P2T2 · Ngày 22 · VinUniversity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5"/>
          <p:cNvSpPr/>
          <p:nvPr/>
        </p:nvSpPr>
        <p:spPr>
          <a:xfrm>
            <a:off x="80467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25 / 37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26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6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Human Eval &amp; Hybrid Approach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6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BD4"/>
                </a:solidFill>
                <a:latin typeface="Arial"/>
                <a:ea typeface="Arial"/>
                <a:cs typeface="Arial"/>
                <a:sym typeface="Arial"/>
              </a:rPr>
              <a:t>Section 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6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26"/>
          <p:cNvSpPr/>
          <p:nvPr/>
        </p:nvSpPr>
        <p:spPr>
          <a:xfrm>
            <a:off x="320040" y="914400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Best practice: dùng LLM-as-judge để scale, human eval để calibrate. Kết hợp cho kết quả tốt nhất.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6"/>
          <p:cNvSpPr/>
          <p:nvPr/>
        </p:nvSpPr>
        <p:spPr>
          <a:xfrm>
            <a:off x="320040" y="1298448"/>
            <a:ext cx="1965960" cy="2468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26"/>
          <p:cNvSpPr/>
          <p:nvPr/>
        </p:nvSpPr>
        <p:spPr>
          <a:xfrm>
            <a:off x="1078992" y="1389888"/>
            <a:ext cx="457200" cy="457200"/>
          </a:xfrm>
          <a:prstGeom prst="ellipse">
            <a:avLst/>
          </a:prstGeom>
          <a:solidFill>
            <a:srgbClr val="2E6DA4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6"/>
          <p:cNvSpPr/>
          <p:nvPr/>
        </p:nvSpPr>
        <p:spPr>
          <a:xfrm>
            <a:off x="1078992" y="1417320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6"/>
          <p:cNvSpPr/>
          <p:nvPr/>
        </p:nvSpPr>
        <p:spPr>
          <a:xfrm>
            <a:off x="429768" y="1965960"/>
            <a:ext cx="175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E6DA4"/>
                </a:solidFill>
                <a:latin typeface="Arial"/>
                <a:ea typeface="Arial"/>
                <a:cs typeface="Arial"/>
                <a:sym typeface="Arial"/>
              </a:rPr>
              <a:t>LLM-as-Judge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E6DA4"/>
                </a:solidFill>
                <a:latin typeface="Arial"/>
                <a:ea typeface="Arial"/>
                <a:cs typeface="Arial"/>
                <a:sym typeface="Arial"/>
              </a:rPr>
              <a:t>(Daily)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6"/>
          <p:cNvSpPr/>
          <p:nvPr/>
        </p:nvSpPr>
        <p:spPr>
          <a:xfrm>
            <a:off x="429768" y="2468880"/>
            <a:ext cx="1755648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Chạy tự động toàn bộ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eval suite mỗi ngày.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Cost thấp, scale tốt.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9" name="Google Shape;709;p26"/>
          <p:cNvCxnSpPr/>
          <p:nvPr/>
        </p:nvCxnSpPr>
        <p:spPr>
          <a:xfrm>
            <a:off x="2286000" y="2487168"/>
            <a:ext cx="210312" cy="0"/>
          </a:xfrm>
          <a:prstGeom prst="straightConnector1">
            <a:avLst/>
          </a:prstGeom>
          <a:noFill/>
          <a:ln cap="flat" cmpd="sng" w="12700">
            <a:solidFill>
              <a:srgbClr val="4A5D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0" name="Google Shape;710;p26"/>
          <p:cNvSpPr/>
          <p:nvPr/>
        </p:nvSpPr>
        <p:spPr>
          <a:xfrm>
            <a:off x="2496312" y="1298448"/>
            <a:ext cx="1965960" cy="2468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26"/>
          <p:cNvSpPr/>
          <p:nvPr/>
        </p:nvSpPr>
        <p:spPr>
          <a:xfrm>
            <a:off x="3255264" y="1389888"/>
            <a:ext cx="457200" cy="457200"/>
          </a:xfrm>
          <a:prstGeom prst="ellipse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26"/>
          <p:cNvSpPr/>
          <p:nvPr/>
        </p:nvSpPr>
        <p:spPr>
          <a:xfrm>
            <a:off x="3255264" y="1417320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6"/>
          <p:cNvSpPr/>
          <p:nvPr/>
        </p:nvSpPr>
        <p:spPr>
          <a:xfrm>
            <a:off x="2606040" y="1965960"/>
            <a:ext cx="175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Human 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(Weekly)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6"/>
          <p:cNvSpPr/>
          <p:nvPr/>
        </p:nvSpPr>
        <p:spPr>
          <a:xfrm>
            <a:off x="2606040" y="2468880"/>
            <a:ext cx="1755648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Sample 100-200 outputs.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Annotators dùng Label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Studio / Argilla.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5" name="Google Shape;715;p26"/>
          <p:cNvCxnSpPr/>
          <p:nvPr/>
        </p:nvCxnSpPr>
        <p:spPr>
          <a:xfrm>
            <a:off x="4462272" y="2487168"/>
            <a:ext cx="210312" cy="0"/>
          </a:xfrm>
          <a:prstGeom prst="straightConnector1">
            <a:avLst/>
          </a:prstGeom>
          <a:noFill/>
          <a:ln cap="flat" cmpd="sng" w="12700">
            <a:solidFill>
              <a:srgbClr val="4A5D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6" name="Google Shape;716;p26"/>
          <p:cNvSpPr/>
          <p:nvPr/>
        </p:nvSpPr>
        <p:spPr>
          <a:xfrm>
            <a:off x="4672584" y="1298448"/>
            <a:ext cx="1965960" cy="2468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26"/>
          <p:cNvSpPr/>
          <p:nvPr/>
        </p:nvSpPr>
        <p:spPr>
          <a:xfrm>
            <a:off x="5431536" y="1389888"/>
            <a:ext cx="457200" cy="457200"/>
          </a:xfrm>
          <a:prstGeom prst="ellipse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26"/>
          <p:cNvSpPr/>
          <p:nvPr/>
        </p:nvSpPr>
        <p:spPr>
          <a:xfrm>
            <a:off x="5431536" y="1417320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6"/>
          <p:cNvSpPr/>
          <p:nvPr/>
        </p:nvSpPr>
        <p:spPr>
          <a:xfrm>
            <a:off x="4782312" y="1965960"/>
            <a:ext cx="175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Calibration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(Monthly)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6"/>
          <p:cNvSpPr/>
          <p:nvPr/>
        </p:nvSpPr>
        <p:spPr>
          <a:xfrm>
            <a:off x="4782312" y="2468880"/>
            <a:ext cx="1755648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So sánh LLM judge vs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human. Đo Cohen's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kappa agreement.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1" name="Google Shape;721;p26"/>
          <p:cNvCxnSpPr/>
          <p:nvPr/>
        </p:nvCxnSpPr>
        <p:spPr>
          <a:xfrm>
            <a:off x="6638544" y="2487168"/>
            <a:ext cx="210312" cy="0"/>
          </a:xfrm>
          <a:prstGeom prst="straightConnector1">
            <a:avLst/>
          </a:prstGeom>
          <a:noFill/>
          <a:ln cap="flat" cmpd="sng" w="12700">
            <a:solidFill>
              <a:srgbClr val="4A5D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2" name="Google Shape;722;p26"/>
          <p:cNvSpPr/>
          <p:nvPr/>
        </p:nvSpPr>
        <p:spPr>
          <a:xfrm>
            <a:off x="6848856" y="1298448"/>
            <a:ext cx="1965960" cy="2468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26"/>
          <p:cNvSpPr/>
          <p:nvPr/>
        </p:nvSpPr>
        <p:spPr>
          <a:xfrm>
            <a:off x="7607808" y="1389888"/>
            <a:ext cx="457200" cy="457200"/>
          </a:xfrm>
          <a:prstGeom prst="ellipse">
            <a:avLst/>
          </a:prstGeom>
          <a:solidFill>
            <a:srgbClr val="1A7A4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6"/>
          <p:cNvSpPr/>
          <p:nvPr/>
        </p:nvSpPr>
        <p:spPr>
          <a:xfrm>
            <a:off x="7607808" y="1417320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6"/>
          <p:cNvSpPr/>
          <p:nvPr/>
        </p:nvSpPr>
        <p:spPr>
          <a:xfrm>
            <a:off x="6958584" y="1965960"/>
            <a:ext cx="175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7A4A"/>
                </a:solidFill>
                <a:latin typeface="Arial"/>
                <a:ea typeface="Arial"/>
                <a:cs typeface="Arial"/>
                <a:sym typeface="Arial"/>
              </a:rPr>
              <a:t>Update Judge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7A4A"/>
                </a:solidFill>
                <a:latin typeface="Arial"/>
                <a:ea typeface="Arial"/>
                <a:cs typeface="Arial"/>
                <a:sym typeface="Arial"/>
              </a:rPr>
              <a:t>Prompt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6"/>
          <p:cNvSpPr/>
          <p:nvPr/>
        </p:nvSpPr>
        <p:spPr>
          <a:xfrm>
            <a:off x="6958584" y="2468880"/>
            <a:ext cx="1755648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Nếu kappa &lt; 0.7: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adjust rubric hoặc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change judge model.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6"/>
          <p:cNvSpPr/>
          <p:nvPr/>
        </p:nvSpPr>
        <p:spPr>
          <a:xfrm>
            <a:off x="320040" y="3931920"/>
            <a:ext cx="8503920" cy="777240"/>
          </a:xfrm>
          <a:prstGeom prst="rect">
            <a:avLst/>
          </a:prstGeom>
          <a:solidFill>
            <a:srgbClr val="E8EEF8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26"/>
          <p:cNvSpPr/>
          <p:nvPr/>
        </p:nvSpPr>
        <p:spPr>
          <a:xfrm>
            <a:off x="457200" y="400507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Tools cho Human Eval: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6"/>
          <p:cNvSpPr/>
          <p:nvPr/>
        </p:nvSpPr>
        <p:spPr>
          <a:xfrm>
            <a:off x="457200" y="4224528"/>
            <a:ext cx="8229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Label Studio (open source) · Argilla (NLP-focused) · Scale AI (enterprise) · Prolific (crowdsourcing)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Inter-annotator agreement (IAA) &gt; 0.7 là healthy. Gold standard samples → calibrate LLM judge.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6"/>
          <p:cNvSpPr/>
          <p:nvPr/>
        </p:nvSpPr>
        <p:spPr>
          <a:xfrm>
            <a:off x="320040" y="48646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AICB-P2T2 · Ngày 22 · VinUniversity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6"/>
          <p:cNvSpPr/>
          <p:nvPr/>
        </p:nvSpPr>
        <p:spPr>
          <a:xfrm>
            <a:off x="80467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26 / 37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6B"/>
        </a:solidFill>
      </p:bgPr>
    </p:bg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27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27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PHẦN 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7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W&amp;B Weave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7"/>
          <p:cNvSpPr/>
          <p:nvPr/>
        </p:nvSpPr>
        <p:spPr>
          <a:xfrm>
            <a:off x="457200" y="25786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9CC8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7B9CC8"/>
                </a:solidFill>
                <a:latin typeface="Arial"/>
                <a:ea typeface="Arial"/>
                <a:cs typeface="Arial"/>
                <a:sym typeface="Arial"/>
              </a:rPr>
              <a:t>LLM Evaluation Platform — Auto-tracking, Model Comparison, Cost Awareness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28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28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W&amp;B Weave — Setup &amp; Auto-Tracking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8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BD4"/>
                </a:solidFill>
                <a:latin typeface="Arial"/>
                <a:ea typeface="Arial"/>
                <a:cs typeface="Arial"/>
                <a:sym typeface="Arial"/>
              </a:rPr>
              <a:t>Section 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8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28"/>
          <p:cNvSpPr/>
          <p:nvPr/>
        </p:nvSpPr>
        <p:spPr>
          <a:xfrm>
            <a:off x="320040" y="841248"/>
            <a:ext cx="5029200" cy="4023360"/>
          </a:xfrm>
          <a:prstGeom prst="rect">
            <a:avLst/>
          </a:prstGeom>
          <a:solidFill>
            <a:srgbClr val="1A2D4A"/>
          </a:solidFill>
          <a:ln cap="flat" cmpd="sng" w="9525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28"/>
          <p:cNvSpPr/>
          <p:nvPr/>
        </p:nvSpPr>
        <p:spPr>
          <a:xfrm>
            <a:off x="457200" y="932688"/>
            <a:ext cx="475488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import weave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import openai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# 1. Init Weave — auto-tracks ALL function calls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weave.init("my-llm-project")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# 2. Any decorated function is traced automatically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@weave.op()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def generate_answer(question: str, context: str) -&gt; str: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  response = openai.chat.completions.create(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      model="gpt-4o-mini",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      messages=[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{"role": "system", "content": f"Context: {context}"},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{"role": "user",   "content": question}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     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  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response.choices[0].message.content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# 3. Define Scorer (evaluation metric)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class FaithfulnessScorer(weave.Scorer):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  @weave.op()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  def score(self, output: str, context: str) -&gt; dict: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      # Use LLM-as-judge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      verdict = llm_judge(output, context)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{"faithful": verdict["score"] &gt; 0.7, "score": verdict["score"]}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8"/>
          <p:cNvSpPr/>
          <p:nvPr/>
        </p:nvSpPr>
        <p:spPr>
          <a:xfrm>
            <a:off x="5577840" y="914400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Tính Năng Nổi Bật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8"/>
          <p:cNvSpPr/>
          <p:nvPr/>
        </p:nvSpPr>
        <p:spPr>
          <a:xfrm>
            <a:off x="5577840" y="1298448"/>
            <a:ext cx="324612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28"/>
          <p:cNvSpPr/>
          <p:nvPr/>
        </p:nvSpPr>
        <p:spPr>
          <a:xfrm>
            <a:off x="5687568" y="1389888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Auto-trace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8"/>
          <p:cNvSpPr/>
          <p:nvPr/>
        </p:nvSpPr>
        <p:spPr>
          <a:xfrm>
            <a:off x="5687568" y="1664208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Không cần config — mọi @weave.op() tự được trace với input/output/latency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8"/>
          <p:cNvSpPr/>
          <p:nvPr/>
        </p:nvSpPr>
        <p:spPr>
          <a:xfrm>
            <a:off x="5577840" y="2194560"/>
            <a:ext cx="324612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28"/>
          <p:cNvSpPr/>
          <p:nvPr/>
        </p:nvSpPr>
        <p:spPr>
          <a:xfrm>
            <a:off x="5687568" y="2286000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Dataset versioning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8"/>
          <p:cNvSpPr/>
          <p:nvPr/>
        </p:nvSpPr>
        <p:spPr>
          <a:xfrm>
            <a:off x="5687568" y="2560320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Khi dataset thay đổi → tự động tạo version mới. Track eval evolution theo thời gian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8"/>
          <p:cNvSpPr/>
          <p:nvPr/>
        </p:nvSpPr>
        <p:spPr>
          <a:xfrm>
            <a:off x="5577840" y="3090672"/>
            <a:ext cx="324612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28"/>
          <p:cNvSpPr/>
          <p:nvPr/>
        </p:nvSpPr>
        <p:spPr>
          <a:xfrm>
            <a:off x="5687568" y="3182112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Model comparison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8"/>
          <p:cNvSpPr/>
          <p:nvPr/>
        </p:nvSpPr>
        <p:spPr>
          <a:xfrm>
            <a:off x="5687568" y="3456432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So sánh GPT-4o vs Llama-3 vs Claude trên cùng evaluation suite side-by-side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8"/>
          <p:cNvSpPr/>
          <p:nvPr/>
        </p:nvSpPr>
        <p:spPr>
          <a:xfrm>
            <a:off x="5577840" y="3986784"/>
            <a:ext cx="324612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28"/>
          <p:cNvSpPr/>
          <p:nvPr/>
        </p:nvSpPr>
        <p:spPr>
          <a:xfrm>
            <a:off x="5687568" y="4078224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Cost tracking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8"/>
          <p:cNvSpPr/>
          <p:nvPr/>
        </p:nvSpPr>
        <p:spPr>
          <a:xfrm>
            <a:off x="5687568" y="4352544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Tính tổng token cost per evaluation run. Budget-aware development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8"/>
          <p:cNvSpPr/>
          <p:nvPr/>
        </p:nvSpPr>
        <p:spPr>
          <a:xfrm>
            <a:off x="80467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28 / 37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29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29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Weave — So Sánh Models Trên Cùng Eval Suite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9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BD4"/>
                </a:solidFill>
                <a:latin typeface="Arial"/>
                <a:ea typeface="Arial"/>
                <a:cs typeface="Arial"/>
                <a:sym typeface="Arial"/>
              </a:rPr>
              <a:t>Section 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9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29"/>
          <p:cNvSpPr/>
          <p:nvPr/>
        </p:nvSpPr>
        <p:spPr>
          <a:xfrm>
            <a:off x="320040" y="914400"/>
            <a:ext cx="1828800" cy="566928"/>
          </a:xfrm>
          <a:prstGeom prst="rect">
            <a:avLst/>
          </a:prstGeom>
          <a:solidFill>
            <a:srgbClr val="1B3A6B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29"/>
          <p:cNvSpPr/>
          <p:nvPr/>
        </p:nvSpPr>
        <p:spPr>
          <a:xfrm>
            <a:off x="393192" y="1005840"/>
            <a:ext cx="16824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9"/>
          <p:cNvSpPr/>
          <p:nvPr/>
        </p:nvSpPr>
        <p:spPr>
          <a:xfrm>
            <a:off x="2194560" y="914400"/>
            <a:ext cx="1280160" cy="566928"/>
          </a:xfrm>
          <a:prstGeom prst="rect">
            <a:avLst/>
          </a:prstGeom>
          <a:solidFill>
            <a:srgbClr val="1B3A6B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29"/>
          <p:cNvSpPr/>
          <p:nvPr/>
        </p:nvSpPr>
        <p:spPr>
          <a:xfrm>
            <a:off x="2267712" y="1005840"/>
            <a:ext cx="113385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Faithfulness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9"/>
          <p:cNvSpPr/>
          <p:nvPr/>
        </p:nvSpPr>
        <p:spPr>
          <a:xfrm>
            <a:off x="3520440" y="914400"/>
            <a:ext cx="1188720" cy="566928"/>
          </a:xfrm>
          <a:prstGeom prst="rect">
            <a:avLst/>
          </a:prstGeom>
          <a:solidFill>
            <a:srgbClr val="1B3A6B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29"/>
          <p:cNvSpPr/>
          <p:nvPr/>
        </p:nvSpPr>
        <p:spPr>
          <a:xfrm>
            <a:off x="3593592" y="1005840"/>
            <a:ext cx="104241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Relevance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9"/>
          <p:cNvSpPr/>
          <p:nvPr/>
        </p:nvSpPr>
        <p:spPr>
          <a:xfrm>
            <a:off x="4754880" y="914400"/>
            <a:ext cx="1188720" cy="566928"/>
          </a:xfrm>
          <a:prstGeom prst="rect">
            <a:avLst/>
          </a:prstGeom>
          <a:solidFill>
            <a:srgbClr val="1B3A6B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29"/>
          <p:cNvSpPr/>
          <p:nvPr/>
        </p:nvSpPr>
        <p:spPr>
          <a:xfrm>
            <a:off x="4828032" y="1005840"/>
            <a:ext cx="104241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Latency P95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9"/>
          <p:cNvSpPr/>
          <p:nvPr/>
        </p:nvSpPr>
        <p:spPr>
          <a:xfrm>
            <a:off x="5989320" y="914400"/>
            <a:ext cx="1371600" cy="566928"/>
          </a:xfrm>
          <a:prstGeom prst="rect">
            <a:avLst/>
          </a:prstGeom>
          <a:solidFill>
            <a:srgbClr val="1B3A6B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29"/>
          <p:cNvSpPr/>
          <p:nvPr/>
        </p:nvSpPr>
        <p:spPr>
          <a:xfrm>
            <a:off x="6062472" y="1005840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Cost/1</a:t>
            </a:r>
            <a:r>
              <a:rPr b="1" lang="en-US" sz="1000">
                <a:solidFill>
                  <a:srgbClr val="FFFFFF"/>
                </a:solidFill>
              </a:rPr>
              <a:t>M tokens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9"/>
          <p:cNvSpPr/>
          <p:nvPr/>
        </p:nvSpPr>
        <p:spPr>
          <a:xfrm>
            <a:off x="7406640" y="914400"/>
            <a:ext cx="1371600" cy="566928"/>
          </a:xfrm>
          <a:prstGeom prst="rect">
            <a:avLst/>
          </a:prstGeom>
          <a:solidFill>
            <a:srgbClr val="1B3A6B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29"/>
          <p:cNvSpPr/>
          <p:nvPr/>
        </p:nvSpPr>
        <p:spPr>
          <a:xfrm>
            <a:off x="7479792" y="1005840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Tổng điểm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9"/>
          <p:cNvSpPr/>
          <p:nvPr/>
        </p:nvSpPr>
        <p:spPr>
          <a:xfrm>
            <a:off x="320040" y="1536192"/>
            <a:ext cx="18288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29"/>
          <p:cNvSpPr/>
          <p:nvPr/>
        </p:nvSpPr>
        <p:spPr>
          <a:xfrm>
            <a:off x="393192" y="1627632"/>
            <a:ext cx="16824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GPT-</a:t>
            </a:r>
            <a:r>
              <a:rPr b="1" lang="en-US" sz="1000">
                <a:solidFill>
                  <a:srgbClr val="1A2340"/>
                </a:solidFill>
              </a:rPr>
              <a:t>5-4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9"/>
          <p:cNvSpPr/>
          <p:nvPr/>
        </p:nvSpPr>
        <p:spPr>
          <a:xfrm>
            <a:off x="2194560" y="1536192"/>
            <a:ext cx="1280160" cy="566928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29"/>
          <p:cNvSpPr/>
          <p:nvPr/>
        </p:nvSpPr>
        <p:spPr>
          <a:xfrm>
            <a:off x="2267712" y="1627632"/>
            <a:ext cx="113385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7A4A"/>
                </a:solidFill>
                <a:latin typeface="Arial"/>
                <a:ea typeface="Arial"/>
                <a:cs typeface="Arial"/>
                <a:sym typeface="Arial"/>
              </a:rPr>
              <a:t>0.91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9"/>
          <p:cNvSpPr/>
          <p:nvPr/>
        </p:nvSpPr>
        <p:spPr>
          <a:xfrm>
            <a:off x="3520440" y="1536192"/>
            <a:ext cx="1188720" cy="566928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29"/>
          <p:cNvSpPr/>
          <p:nvPr/>
        </p:nvSpPr>
        <p:spPr>
          <a:xfrm>
            <a:off x="3593592" y="1627632"/>
            <a:ext cx="104241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7A4A"/>
                </a:solidFill>
                <a:latin typeface="Arial"/>
                <a:ea typeface="Arial"/>
                <a:cs typeface="Arial"/>
                <a:sym typeface="Arial"/>
              </a:rPr>
              <a:t>0.88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9"/>
          <p:cNvSpPr/>
          <p:nvPr/>
        </p:nvSpPr>
        <p:spPr>
          <a:xfrm>
            <a:off x="4754880" y="1536192"/>
            <a:ext cx="11887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29"/>
          <p:cNvSpPr/>
          <p:nvPr/>
        </p:nvSpPr>
        <p:spPr>
          <a:xfrm>
            <a:off x="4828032" y="1627632"/>
            <a:ext cx="104241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3.2s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9"/>
          <p:cNvSpPr/>
          <p:nvPr/>
        </p:nvSpPr>
        <p:spPr>
          <a:xfrm>
            <a:off x="5989320" y="1536192"/>
            <a:ext cx="13716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29"/>
          <p:cNvSpPr/>
          <p:nvPr/>
        </p:nvSpPr>
        <p:spPr>
          <a:xfrm>
            <a:off x="6062472" y="1627632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$2.5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9"/>
          <p:cNvSpPr/>
          <p:nvPr/>
        </p:nvSpPr>
        <p:spPr>
          <a:xfrm>
            <a:off x="7406640" y="1536192"/>
            <a:ext cx="13716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29"/>
          <p:cNvSpPr/>
          <p:nvPr/>
        </p:nvSpPr>
        <p:spPr>
          <a:xfrm>
            <a:off x="7479792" y="1627632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★★★★★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9"/>
          <p:cNvSpPr/>
          <p:nvPr/>
        </p:nvSpPr>
        <p:spPr>
          <a:xfrm>
            <a:off x="320040" y="2157984"/>
            <a:ext cx="1828800" cy="566928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29"/>
          <p:cNvSpPr/>
          <p:nvPr/>
        </p:nvSpPr>
        <p:spPr>
          <a:xfrm>
            <a:off x="393192" y="2249424"/>
            <a:ext cx="16824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GPT-</a:t>
            </a:r>
            <a:r>
              <a:rPr b="1" lang="en-US" sz="1000">
                <a:solidFill>
                  <a:srgbClr val="1A2340"/>
                </a:solidFill>
              </a:rPr>
              <a:t>5.4-mini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9"/>
          <p:cNvSpPr/>
          <p:nvPr/>
        </p:nvSpPr>
        <p:spPr>
          <a:xfrm>
            <a:off x="2194560" y="2157984"/>
            <a:ext cx="1280160" cy="566928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29"/>
          <p:cNvSpPr/>
          <p:nvPr/>
        </p:nvSpPr>
        <p:spPr>
          <a:xfrm>
            <a:off x="2267712" y="2249424"/>
            <a:ext cx="113385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0.82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9"/>
          <p:cNvSpPr/>
          <p:nvPr/>
        </p:nvSpPr>
        <p:spPr>
          <a:xfrm>
            <a:off x="3520440" y="2157984"/>
            <a:ext cx="1188720" cy="566928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29"/>
          <p:cNvSpPr/>
          <p:nvPr/>
        </p:nvSpPr>
        <p:spPr>
          <a:xfrm>
            <a:off x="3593592" y="2249424"/>
            <a:ext cx="104241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0.80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29"/>
          <p:cNvSpPr/>
          <p:nvPr/>
        </p:nvSpPr>
        <p:spPr>
          <a:xfrm>
            <a:off x="4754880" y="2157984"/>
            <a:ext cx="1188720" cy="566928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29"/>
          <p:cNvSpPr/>
          <p:nvPr/>
        </p:nvSpPr>
        <p:spPr>
          <a:xfrm>
            <a:off x="4828032" y="2249424"/>
            <a:ext cx="104241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1.1s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9"/>
          <p:cNvSpPr/>
          <p:nvPr/>
        </p:nvSpPr>
        <p:spPr>
          <a:xfrm>
            <a:off x="5989320" y="2157984"/>
            <a:ext cx="1371600" cy="566928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29"/>
          <p:cNvSpPr/>
          <p:nvPr/>
        </p:nvSpPr>
        <p:spPr>
          <a:xfrm>
            <a:off x="6062472" y="2249424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$</a:t>
            </a:r>
            <a:r>
              <a:rPr lang="en-US" sz="1000">
                <a:solidFill>
                  <a:srgbClr val="1A2340"/>
                </a:solidFill>
              </a:rPr>
              <a:t>0.75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9"/>
          <p:cNvSpPr/>
          <p:nvPr/>
        </p:nvSpPr>
        <p:spPr>
          <a:xfrm>
            <a:off x="7406640" y="2157984"/>
            <a:ext cx="1371600" cy="566928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29"/>
          <p:cNvSpPr/>
          <p:nvPr/>
        </p:nvSpPr>
        <p:spPr>
          <a:xfrm>
            <a:off x="7479792" y="2249424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★★★★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9"/>
          <p:cNvSpPr/>
          <p:nvPr/>
        </p:nvSpPr>
        <p:spPr>
          <a:xfrm>
            <a:off x="320040" y="2779776"/>
            <a:ext cx="18288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29"/>
          <p:cNvSpPr/>
          <p:nvPr/>
        </p:nvSpPr>
        <p:spPr>
          <a:xfrm>
            <a:off x="393192" y="2871216"/>
            <a:ext cx="16824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Claude </a:t>
            </a:r>
            <a:r>
              <a:rPr b="1" lang="en-US" sz="1000">
                <a:solidFill>
                  <a:srgbClr val="1A2340"/>
                </a:solidFill>
              </a:rPr>
              <a:t>4</a:t>
            </a:r>
            <a:r>
              <a:rPr b="1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lang="en-US" sz="1000">
                <a:solidFill>
                  <a:srgbClr val="1A2340"/>
                </a:solidFill>
              </a:rPr>
              <a:t>6</a:t>
            </a:r>
            <a:r>
              <a:rPr b="1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 Sonnet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9"/>
          <p:cNvSpPr/>
          <p:nvPr/>
        </p:nvSpPr>
        <p:spPr>
          <a:xfrm>
            <a:off x="2194560" y="2779776"/>
            <a:ext cx="128016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29"/>
          <p:cNvSpPr/>
          <p:nvPr/>
        </p:nvSpPr>
        <p:spPr>
          <a:xfrm>
            <a:off x="2267712" y="2871216"/>
            <a:ext cx="113385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0.89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29"/>
          <p:cNvSpPr/>
          <p:nvPr/>
        </p:nvSpPr>
        <p:spPr>
          <a:xfrm>
            <a:off x="3520440" y="2779776"/>
            <a:ext cx="11887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29"/>
          <p:cNvSpPr/>
          <p:nvPr/>
        </p:nvSpPr>
        <p:spPr>
          <a:xfrm>
            <a:off x="3593592" y="2871216"/>
            <a:ext cx="104241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0.86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9"/>
          <p:cNvSpPr/>
          <p:nvPr/>
        </p:nvSpPr>
        <p:spPr>
          <a:xfrm>
            <a:off x="4754880" y="2779776"/>
            <a:ext cx="11887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29"/>
          <p:cNvSpPr/>
          <p:nvPr/>
        </p:nvSpPr>
        <p:spPr>
          <a:xfrm>
            <a:off x="4828032" y="2871216"/>
            <a:ext cx="104241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2.8s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9"/>
          <p:cNvSpPr/>
          <p:nvPr/>
        </p:nvSpPr>
        <p:spPr>
          <a:xfrm>
            <a:off x="5989320" y="2779776"/>
            <a:ext cx="13716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29"/>
          <p:cNvSpPr/>
          <p:nvPr/>
        </p:nvSpPr>
        <p:spPr>
          <a:xfrm>
            <a:off x="6062472" y="2871216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$</a:t>
            </a:r>
            <a:r>
              <a:rPr lang="en-US" sz="1000">
                <a:solidFill>
                  <a:srgbClr val="1A2340"/>
                </a:solidFill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9"/>
          <p:cNvSpPr/>
          <p:nvPr/>
        </p:nvSpPr>
        <p:spPr>
          <a:xfrm>
            <a:off x="7406640" y="2779776"/>
            <a:ext cx="13716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29"/>
          <p:cNvSpPr/>
          <p:nvPr/>
        </p:nvSpPr>
        <p:spPr>
          <a:xfrm>
            <a:off x="7479792" y="2871216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★★★★★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9"/>
          <p:cNvSpPr/>
          <p:nvPr/>
        </p:nvSpPr>
        <p:spPr>
          <a:xfrm>
            <a:off x="320040" y="3401568"/>
            <a:ext cx="1828800" cy="566928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29"/>
          <p:cNvSpPr/>
          <p:nvPr/>
        </p:nvSpPr>
        <p:spPr>
          <a:xfrm>
            <a:off x="393192" y="3493008"/>
            <a:ext cx="16824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Llama-3.1 70B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9"/>
          <p:cNvSpPr/>
          <p:nvPr/>
        </p:nvSpPr>
        <p:spPr>
          <a:xfrm>
            <a:off x="2194560" y="3401568"/>
            <a:ext cx="1280160" cy="566928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29"/>
          <p:cNvSpPr/>
          <p:nvPr/>
        </p:nvSpPr>
        <p:spPr>
          <a:xfrm>
            <a:off x="2267712" y="3493008"/>
            <a:ext cx="113385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0.78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9"/>
          <p:cNvSpPr/>
          <p:nvPr/>
        </p:nvSpPr>
        <p:spPr>
          <a:xfrm>
            <a:off x="3520440" y="3401568"/>
            <a:ext cx="1188720" cy="566928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29"/>
          <p:cNvSpPr/>
          <p:nvPr/>
        </p:nvSpPr>
        <p:spPr>
          <a:xfrm>
            <a:off x="3593592" y="3493008"/>
            <a:ext cx="104241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0.75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9"/>
          <p:cNvSpPr/>
          <p:nvPr/>
        </p:nvSpPr>
        <p:spPr>
          <a:xfrm>
            <a:off x="4754880" y="3401568"/>
            <a:ext cx="1188720" cy="566928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29"/>
          <p:cNvSpPr/>
          <p:nvPr/>
        </p:nvSpPr>
        <p:spPr>
          <a:xfrm>
            <a:off x="4828032" y="3493008"/>
            <a:ext cx="104241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4.5s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9"/>
          <p:cNvSpPr/>
          <p:nvPr/>
        </p:nvSpPr>
        <p:spPr>
          <a:xfrm>
            <a:off x="5989320" y="3401568"/>
            <a:ext cx="1371600" cy="566928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29"/>
          <p:cNvSpPr/>
          <p:nvPr/>
        </p:nvSpPr>
        <p:spPr>
          <a:xfrm>
            <a:off x="6062472" y="3493008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$</a:t>
            </a:r>
            <a:r>
              <a:rPr lang="en-US" sz="1000">
                <a:solidFill>
                  <a:srgbClr val="1A2340"/>
                </a:solidFill>
              </a:rPr>
              <a:t>0.05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9"/>
          <p:cNvSpPr/>
          <p:nvPr/>
        </p:nvSpPr>
        <p:spPr>
          <a:xfrm>
            <a:off x="7406640" y="3401568"/>
            <a:ext cx="1371600" cy="566928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29"/>
          <p:cNvSpPr/>
          <p:nvPr/>
        </p:nvSpPr>
        <p:spPr>
          <a:xfrm>
            <a:off x="7479792" y="3493008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★★★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9"/>
          <p:cNvSpPr/>
          <p:nvPr/>
        </p:nvSpPr>
        <p:spPr>
          <a:xfrm>
            <a:off x="320040" y="4023360"/>
            <a:ext cx="18288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29"/>
          <p:cNvSpPr/>
          <p:nvPr/>
        </p:nvSpPr>
        <p:spPr>
          <a:xfrm>
            <a:off x="393192" y="4114800"/>
            <a:ext cx="16824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Gemini </a:t>
            </a:r>
            <a:r>
              <a:rPr b="1" lang="en-US" sz="1000">
                <a:solidFill>
                  <a:srgbClr val="1A2340"/>
                </a:solidFill>
              </a:rPr>
              <a:t>3</a:t>
            </a:r>
            <a:r>
              <a:rPr b="1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lang="en-US" sz="1000">
                <a:solidFill>
                  <a:srgbClr val="1A2340"/>
                </a:solidFill>
              </a:rPr>
              <a:t>1</a:t>
            </a:r>
            <a:r>
              <a:rPr b="1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000">
                <a:solidFill>
                  <a:srgbClr val="1A2340"/>
                </a:solidFill>
              </a:rPr>
              <a:t>Pro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29"/>
          <p:cNvSpPr/>
          <p:nvPr/>
        </p:nvSpPr>
        <p:spPr>
          <a:xfrm>
            <a:off x="2194560" y="4023360"/>
            <a:ext cx="128016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29"/>
          <p:cNvSpPr/>
          <p:nvPr/>
        </p:nvSpPr>
        <p:spPr>
          <a:xfrm>
            <a:off x="2267712" y="4114800"/>
            <a:ext cx="113385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0.80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29"/>
          <p:cNvSpPr/>
          <p:nvPr/>
        </p:nvSpPr>
        <p:spPr>
          <a:xfrm>
            <a:off x="3520440" y="4023360"/>
            <a:ext cx="11887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29"/>
          <p:cNvSpPr/>
          <p:nvPr/>
        </p:nvSpPr>
        <p:spPr>
          <a:xfrm>
            <a:off x="3593592" y="4114800"/>
            <a:ext cx="104241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0.79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9"/>
          <p:cNvSpPr/>
          <p:nvPr/>
        </p:nvSpPr>
        <p:spPr>
          <a:xfrm>
            <a:off x="4754880" y="4023360"/>
            <a:ext cx="11887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29"/>
          <p:cNvSpPr/>
          <p:nvPr/>
        </p:nvSpPr>
        <p:spPr>
          <a:xfrm>
            <a:off x="4828032" y="4114800"/>
            <a:ext cx="104241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1.8s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9"/>
          <p:cNvSpPr/>
          <p:nvPr/>
        </p:nvSpPr>
        <p:spPr>
          <a:xfrm>
            <a:off x="5989320" y="4023360"/>
            <a:ext cx="13716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29"/>
          <p:cNvSpPr/>
          <p:nvPr/>
        </p:nvSpPr>
        <p:spPr>
          <a:xfrm>
            <a:off x="6062472" y="4114800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$2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9"/>
          <p:cNvSpPr/>
          <p:nvPr/>
        </p:nvSpPr>
        <p:spPr>
          <a:xfrm>
            <a:off x="7406640" y="4023360"/>
            <a:ext cx="13716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29"/>
          <p:cNvSpPr/>
          <p:nvPr/>
        </p:nvSpPr>
        <p:spPr>
          <a:xfrm>
            <a:off x="7479792" y="4114800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★★★★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9"/>
          <p:cNvSpPr/>
          <p:nvPr/>
        </p:nvSpPr>
        <p:spPr>
          <a:xfrm>
            <a:off x="320040" y="48646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AICB-P2T2 · Ngày 22 · VinUniversity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29"/>
          <p:cNvSpPr/>
          <p:nvPr/>
        </p:nvSpPr>
        <p:spPr>
          <a:xfrm>
            <a:off x="80467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29 / 37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6B"/>
        </a:solidFill>
      </p:bgPr>
    </p:bg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30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30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PHẦN 06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30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Guardrails &amp; Safety Monitoring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30"/>
          <p:cNvSpPr/>
          <p:nvPr/>
        </p:nvSpPr>
        <p:spPr>
          <a:xfrm>
            <a:off x="457200" y="25786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9CC8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7B9CC8"/>
                </a:solidFill>
                <a:latin typeface="Arial"/>
                <a:ea typeface="Arial"/>
                <a:cs typeface="Arial"/>
                <a:sym typeface="Arial"/>
              </a:rPr>
              <a:t>Defense in Depth cho LLM Applications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3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31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Guardrails Architecture — Input &amp; Output Layers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3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BD4"/>
                </a:solidFill>
                <a:latin typeface="Arial"/>
                <a:ea typeface="Arial"/>
                <a:cs typeface="Arial"/>
                <a:sym typeface="Arial"/>
              </a:rPr>
              <a:t>Section 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3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31"/>
          <p:cNvSpPr/>
          <p:nvPr/>
        </p:nvSpPr>
        <p:spPr>
          <a:xfrm>
            <a:off x="320040" y="1280160"/>
            <a:ext cx="1463040" cy="64008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31"/>
          <p:cNvSpPr/>
          <p:nvPr/>
        </p:nvSpPr>
        <p:spPr>
          <a:xfrm>
            <a:off x="320040" y="132588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1"/>
          <p:cNvSpPr/>
          <p:nvPr/>
        </p:nvSpPr>
        <p:spPr>
          <a:xfrm>
            <a:off x="2011680" y="987552"/>
            <a:ext cx="2011680" cy="1234440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31"/>
          <p:cNvSpPr/>
          <p:nvPr/>
        </p:nvSpPr>
        <p:spPr>
          <a:xfrm>
            <a:off x="2011680" y="102412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INPUT GUARDRAILS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1"/>
          <p:cNvSpPr/>
          <p:nvPr/>
        </p:nvSpPr>
        <p:spPr>
          <a:xfrm>
            <a:off x="2103120" y="1261872"/>
            <a:ext cx="18745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202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2020"/>
                </a:solidFill>
                <a:latin typeface="Arial"/>
                <a:ea typeface="Arial"/>
                <a:cs typeface="Arial"/>
                <a:sym typeface="Arial"/>
              </a:rPr>
              <a:t>• Detect PII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202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2020"/>
                </a:solidFill>
                <a:latin typeface="Arial"/>
                <a:ea typeface="Arial"/>
                <a:cs typeface="Arial"/>
                <a:sym typeface="Arial"/>
              </a:rPr>
              <a:t>• Prompt injection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202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2020"/>
                </a:solidFill>
                <a:latin typeface="Arial"/>
                <a:ea typeface="Arial"/>
                <a:cs typeface="Arial"/>
                <a:sym typeface="Arial"/>
              </a:rPr>
              <a:t>• Jailbreak attempts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202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2020"/>
                </a:solidFill>
                <a:latin typeface="Arial"/>
                <a:ea typeface="Arial"/>
                <a:cs typeface="Arial"/>
                <a:sym typeface="Arial"/>
              </a:rPr>
              <a:t>• Toxicity filter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31"/>
          <p:cNvSpPr/>
          <p:nvPr/>
        </p:nvSpPr>
        <p:spPr>
          <a:xfrm>
            <a:off x="4389120" y="1097280"/>
            <a:ext cx="1463040" cy="100584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31"/>
          <p:cNvSpPr/>
          <p:nvPr/>
        </p:nvSpPr>
        <p:spPr>
          <a:xfrm>
            <a:off x="4389120" y="1170432"/>
            <a:ext cx="1463040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(GPT/Claude)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31"/>
          <p:cNvSpPr/>
          <p:nvPr/>
        </p:nvSpPr>
        <p:spPr>
          <a:xfrm>
            <a:off x="6126480" y="987552"/>
            <a:ext cx="2011680" cy="1234440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31"/>
          <p:cNvSpPr/>
          <p:nvPr/>
        </p:nvSpPr>
        <p:spPr>
          <a:xfrm>
            <a:off x="6126480" y="102412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OUTPUT GUARDRAILS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1"/>
          <p:cNvSpPr/>
          <p:nvPr/>
        </p:nvSpPr>
        <p:spPr>
          <a:xfrm>
            <a:off x="6217920" y="1261872"/>
            <a:ext cx="18745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202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2020"/>
                </a:solidFill>
                <a:latin typeface="Arial"/>
                <a:ea typeface="Arial"/>
                <a:cs typeface="Arial"/>
                <a:sym typeface="Arial"/>
              </a:rPr>
              <a:t>• Validate JSON format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202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2020"/>
                </a:solidFill>
                <a:latin typeface="Arial"/>
                <a:ea typeface="Arial"/>
                <a:cs typeface="Arial"/>
                <a:sym typeface="Arial"/>
              </a:rPr>
              <a:t>• Toxicity check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202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2020"/>
                </a:solidFill>
                <a:latin typeface="Arial"/>
                <a:ea typeface="Arial"/>
                <a:cs typeface="Arial"/>
                <a:sym typeface="Arial"/>
              </a:rPr>
              <a:t>• Factual grounding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202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2020"/>
                </a:solidFill>
                <a:latin typeface="Arial"/>
                <a:ea typeface="Arial"/>
                <a:cs typeface="Arial"/>
                <a:sym typeface="Arial"/>
              </a:rPr>
              <a:t>• Length compliance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7" name="Google Shape;877;p31"/>
          <p:cNvCxnSpPr/>
          <p:nvPr/>
        </p:nvCxnSpPr>
        <p:spPr>
          <a:xfrm>
            <a:off x="1783080" y="1600200"/>
            <a:ext cx="228600" cy="0"/>
          </a:xfrm>
          <a:prstGeom prst="straightConnector1">
            <a:avLst/>
          </a:prstGeom>
          <a:noFill/>
          <a:ln cap="flat" cmpd="sng" w="19050">
            <a:solidFill>
              <a:srgbClr val="4A5D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8" name="Google Shape;878;p31"/>
          <p:cNvCxnSpPr/>
          <p:nvPr/>
        </p:nvCxnSpPr>
        <p:spPr>
          <a:xfrm>
            <a:off x="4023360" y="1600200"/>
            <a:ext cx="365760" cy="0"/>
          </a:xfrm>
          <a:prstGeom prst="straightConnector1">
            <a:avLst/>
          </a:prstGeom>
          <a:noFill/>
          <a:ln cap="flat" cmpd="sng" w="19050">
            <a:solidFill>
              <a:srgbClr val="4A5D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9" name="Google Shape;879;p31"/>
          <p:cNvCxnSpPr/>
          <p:nvPr/>
        </p:nvCxnSpPr>
        <p:spPr>
          <a:xfrm>
            <a:off x="5852160" y="1600200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4A5D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0" name="Google Shape;880;p31"/>
          <p:cNvSpPr/>
          <p:nvPr/>
        </p:nvSpPr>
        <p:spPr>
          <a:xfrm>
            <a:off x="320040" y="242316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Tools &amp; Libraries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31"/>
          <p:cNvSpPr/>
          <p:nvPr/>
        </p:nvSpPr>
        <p:spPr>
          <a:xfrm>
            <a:off x="320040" y="2743200"/>
            <a:ext cx="2011680" cy="20848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31"/>
          <p:cNvSpPr/>
          <p:nvPr/>
        </p:nvSpPr>
        <p:spPr>
          <a:xfrm>
            <a:off x="320040" y="2743200"/>
            <a:ext cx="2011680" cy="54864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31"/>
          <p:cNvSpPr/>
          <p:nvPr/>
        </p:nvSpPr>
        <p:spPr>
          <a:xfrm>
            <a:off x="429768" y="285292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Guardrails 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31"/>
          <p:cNvSpPr/>
          <p:nvPr/>
        </p:nvSpPr>
        <p:spPr>
          <a:xfrm>
            <a:off x="429768" y="3163824"/>
            <a:ext cx="1828800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Python library. Validate JSON, detect PII, check toxicity, auto-reask khi fail.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31"/>
          <p:cNvSpPr/>
          <p:nvPr/>
        </p:nvSpPr>
        <p:spPr>
          <a:xfrm>
            <a:off x="2496312" y="2743200"/>
            <a:ext cx="2011680" cy="20848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31"/>
          <p:cNvSpPr/>
          <p:nvPr/>
        </p:nvSpPr>
        <p:spPr>
          <a:xfrm>
            <a:off x="2496312" y="2743200"/>
            <a:ext cx="2011680" cy="54864"/>
          </a:xfrm>
          <a:prstGeom prst="rect">
            <a:avLst/>
          </a:prstGeom>
          <a:solidFill>
            <a:srgbClr val="8B2FC9"/>
          </a:solidFill>
          <a:ln cap="flat" cmpd="sng" w="12700">
            <a:solidFill>
              <a:srgbClr val="8B2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31"/>
          <p:cNvSpPr/>
          <p:nvPr/>
        </p:nvSpPr>
        <p:spPr>
          <a:xfrm>
            <a:off x="2606040" y="285292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2FC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8B2FC9"/>
                </a:solidFill>
                <a:latin typeface="Arial"/>
                <a:ea typeface="Arial"/>
                <a:cs typeface="Arial"/>
                <a:sym typeface="Arial"/>
              </a:rPr>
              <a:t>Llama Guard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31"/>
          <p:cNvSpPr/>
          <p:nvPr/>
        </p:nvSpPr>
        <p:spPr>
          <a:xfrm>
            <a:off x="2606040" y="3163824"/>
            <a:ext cx="1828800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Meta open-source safety model. Classify input/output theo 14 harm categories.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31"/>
          <p:cNvSpPr/>
          <p:nvPr/>
        </p:nvSpPr>
        <p:spPr>
          <a:xfrm>
            <a:off x="4672584" y="2743200"/>
            <a:ext cx="2011680" cy="20848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31"/>
          <p:cNvSpPr/>
          <p:nvPr/>
        </p:nvSpPr>
        <p:spPr>
          <a:xfrm>
            <a:off x="4672584" y="2743200"/>
            <a:ext cx="2011680" cy="54864"/>
          </a:xfrm>
          <a:prstGeom prst="rect">
            <a:avLst/>
          </a:prstGeom>
          <a:solidFill>
            <a:srgbClr val="1A7A4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31"/>
          <p:cNvSpPr/>
          <p:nvPr/>
        </p:nvSpPr>
        <p:spPr>
          <a:xfrm>
            <a:off x="4782312" y="285292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7A4A"/>
                </a:solidFill>
                <a:latin typeface="Arial"/>
                <a:ea typeface="Arial"/>
                <a:cs typeface="Arial"/>
                <a:sym typeface="Arial"/>
              </a:rPr>
              <a:t>NeMo Guardrails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31"/>
          <p:cNvSpPr/>
          <p:nvPr/>
        </p:nvSpPr>
        <p:spPr>
          <a:xfrm>
            <a:off x="4782312" y="3163824"/>
            <a:ext cx="1828800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NVIDIA. Dialog safety rails cho conversational AI với topical &amp; safety rails.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31"/>
          <p:cNvSpPr/>
          <p:nvPr/>
        </p:nvSpPr>
        <p:spPr>
          <a:xfrm>
            <a:off x="6848856" y="2743200"/>
            <a:ext cx="2011680" cy="20848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31"/>
          <p:cNvSpPr/>
          <p:nvPr/>
        </p:nvSpPr>
        <p:spPr>
          <a:xfrm>
            <a:off x="6848856" y="2743200"/>
            <a:ext cx="2011680" cy="54864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1"/>
          <p:cNvSpPr/>
          <p:nvPr/>
        </p:nvSpPr>
        <p:spPr>
          <a:xfrm>
            <a:off x="6958584" y="285292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rPr>
              <a:t>Azure Content Safety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31"/>
          <p:cNvSpPr/>
          <p:nvPr/>
        </p:nvSpPr>
        <p:spPr>
          <a:xfrm>
            <a:off x="6958584" y="3163824"/>
            <a:ext cx="1828800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Microsoft managed service. Text + image moderation, customizable thresholds.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31"/>
          <p:cNvSpPr/>
          <p:nvPr/>
        </p:nvSpPr>
        <p:spPr>
          <a:xfrm>
            <a:off x="320040" y="48646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AICB-P2T2 · Ngày 22 · VinUniversity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31"/>
          <p:cNvSpPr/>
          <p:nvPr/>
        </p:nvSpPr>
        <p:spPr>
          <a:xfrm>
            <a:off x="80467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31 / 37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32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Guardrails AI — Code Example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32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BD4"/>
                </a:solidFill>
                <a:latin typeface="Arial"/>
                <a:ea typeface="Arial"/>
                <a:cs typeface="Arial"/>
                <a:sym typeface="Arial"/>
              </a:rPr>
              <a:t>Section 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3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32"/>
          <p:cNvSpPr/>
          <p:nvPr/>
        </p:nvSpPr>
        <p:spPr>
          <a:xfrm>
            <a:off x="320040" y="841248"/>
            <a:ext cx="5029200" cy="4023360"/>
          </a:xfrm>
          <a:prstGeom prst="rect">
            <a:avLst/>
          </a:prstGeom>
          <a:solidFill>
            <a:srgbClr val="1A2D4A"/>
          </a:solidFill>
          <a:ln cap="flat" cmpd="sng" w="9525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32"/>
          <p:cNvSpPr/>
          <p:nvPr/>
        </p:nvSpPr>
        <p:spPr>
          <a:xfrm>
            <a:off x="457200" y="932688"/>
            <a:ext cx="475488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from guardrails import Guard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from guardrails.hub import ValidJson, DetectPII, ToxicLanguage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# Build guard pipeline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guard = Guard().use_many(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  ValidJson(on_fail="reask"),         # If not JSON → reask LLM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  DetectPII(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      pii_entities=["EMAIL", "PHONE", "SSN"],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      on_fail="fix"                   # Redact PII automatically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  ),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  ToxicLanguage(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      threshold=0.7,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      on_fail="noop"                  # Log but don't block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  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# Wrap LLM call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result = guard(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  llm_api=openai.chat.completions.create,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  model="gpt-4o-mini",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  messages=[{"role": "user", "content": "Summarize: {document}"}],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    num_reasks=2                        # Retry up to 2 times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1F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8D1FF"/>
                </a:solidFill>
                <a:latin typeface="Courier New"/>
                <a:ea typeface="Courier New"/>
                <a:cs typeface="Courier New"/>
                <a:sym typeface="Courier New"/>
              </a:rPr>
              <a:t># Access validated output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32"/>
          <p:cNvSpPr/>
          <p:nvPr/>
        </p:nvSpPr>
        <p:spPr>
          <a:xfrm>
            <a:off x="5577840" y="914400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Alert Rules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32"/>
          <p:cNvSpPr/>
          <p:nvPr/>
        </p:nvSpPr>
        <p:spPr>
          <a:xfrm>
            <a:off x="5577840" y="1298448"/>
            <a:ext cx="32461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2"/>
          <p:cNvSpPr/>
          <p:nvPr/>
        </p:nvSpPr>
        <p:spPr>
          <a:xfrm>
            <a:off x="5577840" y="1298448"/>
            <a:ext cx="45720" cy="54864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2"/>
          <p:cNvSpPr/>
          <p:nvPr/>
        </p:nvSpPr>
        <p:spPr>
          <a:xfrm>
            <a:off x="5687568" y="1353312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IF: Toxicity rate &gt; 0.5%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32"/>
          <p:cNvSpPr/>
          <p:nvPr/>
        </p:nvSpPr>
        <p:spPr>
          <a:xfrm>
            <a:off x="5687568" y="1572768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→ Slack alert → manual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32"/>
          <p:cNvSpPr/>
          <p:nvPr/>
        </p:nvSpPr>
        <p:spPr>
          <a:xfrm>
            <a:off x="5577840" y="1938528"/>
            <a:ext cx="32461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32"/>
          <p:cNvSpPr/>
          <p:nvPr/>
        </p:nvSpPr>
        <p:spPr>
          <a:xfrm>
            <a:off x="5577840" y="1938528"/>
            <a:ext cx="45720" cy="54864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32"/>
          <p:cNvSpPr/>
          <p:nvPr/>
        </p:nvSpPr>
        <p:spPr>
          <a:xfrm>
            <a:off x="5687568" y="1993392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IF: Hallucination rate &gt; 5%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32"/>
          <p:cNvSpPr/>
          <p:nvPr/>
        </p:nvSpPr>
        <p:spPr>
          <a:xfrm>
            <a:off x="5687568" y="2212848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→ Page on-call → investigation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32"/>
          <p:cNvSpPr/>
          <p:nvPr/>
        </p:nvSpPr>
        <p:spPr>
          <a:xfrm>
            <a:off x="5577840" y="2578608"/>
            <a:ext cx="32461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32"/>
          <p:cNvSpPr/>
          <p:nvPr/>
        </p:nvSpPr>
        <p:spPr>
          <a:xfrm>
            <a:off x="5577840" y="2578608"/>
            <a:ext cx="45720" cy="54864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32"/>
          <p:cNvSpPr/>
          <p:nvPr/>
        </p:nvSpPr>
        <p:spPr>
          <a:xfrm>
            <a:off x="5687568" y="2633472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IF: PII leak detected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32"/>
          <p:cNvSpPr/>
          <p:nvPr/>
        </p:nvSpPr>
        <p:spPr>
          <a:xfrm>
            <a:off x="5687568" y="2852928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→ Immediate block + audit log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32"/>
          <p:cNvSpPr/>
          <p:nvPr/>
        </p:nvSpPr>
        <p:spPr>
          <a:xfrm>
            <a:off x="5577840" y="3218688"/>
            <a:ext cx="32461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32"/>
          <p:cNvSpPr/>
          <p:nvPr/>
        </p:nvSpPr>
        <p:spPr>
          <a:xfrm>
            <a:off x="5577840" y="3218688"/>
            <a:ext cx="45720" cy="54864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32"/>
          <p:cNvSpPr/>
          <p:nvPr/>
        </p:nvSpPr>
        <p:spPr>
          <a:xfrm>
            <a:off x="5687568" y="3273552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IF: reask count &gt; 3/hour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32"/>
          <p:cNvSpPr/>
          <p:nvPr/>
        </p:nvSpPr>
        <p:spPr>
          <a:xfrm>
            <a:off x="5687568" y="3493008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→ Review prompt quality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32"/>
          <p:cNvSpPr/>
          <p:nvPr/>
        </p:nvSpPr>
        <p:spPr>
          <a:xfrm>
            <a:off x="5577840" y="3858768"/>
            <a:ext cx="32461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32"/>
          <p:cNvSpPr/>
          <p:nvPr/>
        </p:nvSpPr>
        <p:spPr>
          <a:xfrm>
            <a:off x="5577840" y="3858768"/>
            <a:ext cx="45720" cy="54864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32"/>
          <p:cNvSpPr/>
          <p:nvPr/>
        </p:nvSpPr>
        <p:spPr>
          <a:xfrm>
            <a:off x="5687568" y="3913632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IF: Guard failure rate &gt; 2%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32"/>
          <p:cNvSpPr/>
          <p:nvPr/>
        </p:nvSpPr>
        <p:spPr>
          <a:xfrm>
            <a:off x="5687568" y="4133088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→ Check guard configuration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32"/>
          <p:cNvSpPr/>
          <p:nvPr/>
        </p:nvSpPr>
        <p:spPr>
          <a:xfrm>
            <a:off x="320040" y="48646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AICB-P2T2 · Ngày 22 · VinUniversity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32"/>
          <p:cNvSpPr/>
          <p:nvPr/>
        </p:nvSpPr>
        <p:spPr>
          <a:xfrm>
            <a:off x="80467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32 / 37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6B"/>
        </a:solidFill>
      </p:bgPr>
    </p:bg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3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3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PHẦN 07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33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Demo &amp; Labs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33"/>
          <p:cNvSpPr/>
          <p:nvPr/>
        </p:nvSpPr>
        <p:spPr>
          <a:xfrm>
            <a:off x="457200" y="25786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9CC8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7B9CC8"/>
                </a:solidFill>
                <a:latin typeface="Arial"/>
                <a:ea typeface="Arial"/>
                <a:cs typeface="Arial"/>
                <a:sym typeface="Arial"/>
              </a:rPr>
              <a:t>LangSmith · Prompt A/B Test · RAGAS · Guardrails 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34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34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Demo — Agenda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34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BD4"/>
                </a:solidFill>
                <a:latin typeface="Arial"/>
                <a:ea typeface="Arial"/>
                <a:cs typeface="Arial"/>
                <a:sym typeface="Arial"/>
              </a:rPr>
              <a:t>Section 07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34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34"/>
          <p:cNvSpPr/>
          <p:nvPr/>
        </p:nvSpPr>
        <p:spPr>
          <a:xfrm>
            <a:off x="320040" y="914400"/>
            <a:ext cx="8503920" cy="731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34"/>
          <p:cNvSpPr/>
          <p:nvPr/>
        </p:nvSpPr>
        <p:spPr>
          <a:xfrm>
            <a:off x="411480" y="98755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Demo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34"/>
          <p:cNvSpPr/>
          <p:nvPr/>
        </p:nvSpPr>
        <p:spPr>
          <a:xfrm>
            <a:off x="1417320" y="98755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RAG Pipeline + LangSmith Tracing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34"/>
          <p:cNvSpPr/>
          <p:nvPr/>
        </p:nvSpPr>
        <p:spPr>
          <a:xfrm>
            <a:off x="8046720" y="987552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10 phút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34"/>
          <p:cNvSpPr/>
          <p:nvPr/>
        </p:nvSpPr>
        <p:spPr>
          <a:xfrm>
            <a:off x="1417320" y="12801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Build RAG pipeline → Instrument với @traceable → View trace tree trong LangSmith → Identify bottleneck step → Filter slow traces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34"/>
          <p:cNvSpPr/>
          <p:nvPr/>
        </p:nvSpPr>
        <p:spPr>
          <a:xfrm>
            <a:off x="320040" y="1737360"/>
            <a:ext cx="8503920" cy="731520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34"/>
          <p:cNvSpPr/>
          <p:nvPr/>
        </p:nvSpPr>
        <p:spPr>
          <a:xfrm>
            <a:off x="411480" y="181051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Demo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34"/>
          <p:cNvSpPr/>
          <p:nvPr/>
        </p:nvSpPr>
        <p:spPr>
          <a:xfrm>
            <a:off x="1417320" y="181051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Prompt A/B Test với Prompt Hub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34"/>
          <p:cNvSpPr/>
          <p:nvPr/>
        </p:nvSpPr>
        <p:spPr>
          <a:xfrm>
            <a:off x="8046720" y="1810512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10 phút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34"/>
          <p:cNvSpPr/>
          <p:nvPr/>
        </p:nvSpPr>
        <p:spPr>
          <a:xfrm>
            <a:off x="1417320" y="21031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Push 2 prompt versions lên Hub → Implement 50/50 traffic router → Tag traces với version → So sánh metrics sau 100 queries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34"/>
          <p:cNvSpPr/>
          <p:nvPr/>
        </p:nvSpPr>
        <p:spPr>
          <a:xfrm>
            <a:off x="320040" y="2560320"/>
            <a:ext cx="8503920" cy="731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34"/>
          <p:cNvSpPr/>
          <p:nvPr/>
        </p:nvSpPr>
        <p:spPr>
          <a:xfrm>
            <a:off x="411480" y="263347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Demo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34"/>
          <p:cNvSpPr/>
          <p:nvPr/>
        </p:nvSpPr>
        <p:spPr>
          <a:xfrm>
            <a:off x="1417320" y="263347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RAGAS Evaluation Report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34"/>
          <p:cNvSpPr/>
          <p:nvPr/>
        </p:nvSpPr>
        <p:spPr>
          <a:xfrm>
            <a:off x="8046720" y="2633472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8 phút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34"/>
          <p:cNvSpPr/>
          <p:nvPr/>
        </p:nvSpPr>
        <p:spPr>
          <a:xfrm>
            <a:off x="1417320" y="2926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Tạo 50 QA dataset → Run RAGAS với cả 2 prompt versions → So sánh faithfulness/relevance → Identify winner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34"/>
          <p:cNvSpPr/>
          <p:nvPr/>
        </p:nvSpPr>
        <p:spPr>
          <a:xfrm>
            <a:off x="320040" y="3383280"/>
            <a:ext cx="8503920" cy="731520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34"/>
          <p:cNvSpPr/>
          <p:nvPr/>
        </p:nvSpPr>
        <p:spPr>
          <a:xfrm>
            <a:off x="411480" y="345643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Demo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34"/>
          <p:cNvSpPr/>
          <p:nvPr/>
        </p:nvSpPr>
        <p:spPr>
          <a:xfrm>
            <a:off x="1417320" y="345643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Guardrails AI — Block PII + Reformat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34"/>
          <p:cNvSpPr/>
          <p:nvPr/>
        </p:nvSpPr>
        <p:spPr>
          <a:xfrm>
            <a:off x="8046720" y="3456432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8 phút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34"/>
          <p:cNvSpPr/>
          <p:nvPr/>
        </p:nvSpPr>
        <p:spPr>
          <a:xfrm>
            <a:off x="1417320" y="3749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Inject prompt với PII (email, phone) → Guardrails detect + redact → Inject bad JSON prompt → Guard reasks → Log incident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34"/>
          <p:cNvSpPr/>
          <p:nvPr/>
        </p:nvSpPr>
        <p:spPr>
          <a:xfrm>
            <a:off x="320040" y="4206240"/>
            <a:ext cx="8503920" cy="731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34"/>
          <p:cNvSpPr/>
          <p:nvPr/>
        </p:nvSpPr>
        <p:spPr>
          <a:xfrm>
            <a:off x="411480" y="427939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34"/>
          <p:cNvSpPr/>
          <p:nvPr/>
        </p:nvSpPr>
        <p:spPr>
          <a:xfrm>
            <a:off x="1417320" y="427939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2340"/>
                </a:solidFill>
                <a:latin typeface="Arial"/>
                <a:ea typeface="Arial"/>
                <a:cs typeface="Arial"/>
                <a:sym typeface="Arial"/>
              </a:rPr>
              <a:t>LangSmith Dashboard Tour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34"/>
          <p:cNvSpPr/>
          <p:nvPr/>
        </p:nvSpPr>
        <p:spPr>
          <a:xfrm>
            <a:off x="8046720" y="4279392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4 phút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34"/>
          <p:cNvSpPr/>
          <p:nvPr/>
        </p:nvSpPr>
        <p:spPr>
          <a:xfrm>
            <a:off x="1417320" y="45720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Latency heatmap per time window · Cost per day trend · Error rate by type · Token usage breakdown · Custom A/B tags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34"/>
          <p:cNvSpPr/>
          <p:nvPr/>
        </p:nvSpPr>
        <p:spPr>
          <a:xfrm>
            <a:off x="320040" y="48646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AICB-P2T2 · Ngày 22 · VinUniversity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34"/>
          <p:cNvSpPr/>
          <p:nvPr/>
        </p:nvSpPr>
        <p:spPr>
          <a:xfrm>
            <a:off x="80467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34 / 37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35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35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Lab #22 — Hướng Dẫn Thực Hành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35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BD4"/>
                </a:solidFill>
                <a:latin typeface="Arial"/>
                <a:ea typeface="Arial"/>
                <a:cs typeface="Arial"/>
                <a:sym typeface="Arial"/>
              </a:rPr>
              <a:t>Thời gian: 2 giờ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35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35"/>
          <p:cNvSpPr/>
          <p:nvPr/>
        </p:nvSpPr>
        <p:spPr>
          <a:xfrm>
            <a:off x="320040" y="914400"/>
            <a:ext cx="4160520" cy="1874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35"/>
          <p:cNvSpPr/>
          <p:nvPr/>
        </p:nvSpPr>
        <p:spPr>
          <a:xfrm>
            <a:off x="320040" y="914400"/>
            <a:ext cx="4160520" cy="310896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35"/>
          <p:cNvSpPr/>
          <p:nvPr/>
        </p:nvSpPr>
        <p:spPr>
          <a:xfrm>
            <a:off x="429768" y="969264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Task 1: LangSmith Setup + RAG Instrumentation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35"/>
          <p:cNvSpPr/>
          <p:nvPr/>
        </p:nvSpPr>
        <p:spPr>
          <a:xfrm>
            <a:off x="429768" y="1316736"/>
            <a:ext cx="395020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1. Install: pip install langsmith langchain-openai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2. Set LANGCHAIN_TRACING_V2=true và LANGCHAIN_API_KEY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3. Build simple RAG pipeline với retriever + LLM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4. Thêm @traceable decorator cho custom functions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5. Chạy 100+ queries, verify traces xuất hiện trong dashboard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35"/>
          <p:cNvSpPr/>
          <p:nvPr/>
        </p:nvSpPr>
        <p:spPr>
          <a:xfrm>
            <a:off x="4754880" y="914400"/>
            <a:ext cx="4160520" cy="1874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35"/>
          <p:cNvSpPr/>
          <p:nvPr/>
        </p:nvSpPr>
        <p:spPr>
          <a:xfrm>
            <a:off x="4754880" y="914400"/>
            <a:ext cx="4160520" cy="310896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35"/>
          <p:cNvSpPr/>
          <p:nvPr/>
        </p:nvSpPr>
        <p:spPr>
          <a:xfrm>
            <a:off x="4864608" y="969264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Task 2: Prompt Versioning + A/B Test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35"/>
          <p:cNvSpPr/>
          <p:nvPr/>
        </p:nvSpPr>
        <p:spPr>
          <a:xfrm>
            <a:off x="4864608" y="1316736"/>
            <a:ext cx="395020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1. Push 2 system prompt versions lên LangSmith Prompt Hub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2. Version 1: concise (max 100 words), Version 2: detailed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3. Implement traffic router dựa trên request_id % 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4. Tag mỗi trace với prompt_version metadata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5. So sánh avg latency, cost, output length giữa 2 versions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35"/>
          <p:cNvSpPr/>
          <p:nvPr/>
        </p:nvSpPr>
        <p:spPr>
          <a:xfrm>
            <a:off x="320040" y="2907792"/>
            <a:ext cx="4160520" cy="1874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35"/>
          <p:cNvSpPr/>
          <p:nvPr/>
        </p:nvSpPr>
        <p:spPr>
          <a:xfrm>
            <a:off x="320040" y="2907792"/>
            <a:ext cx="4160520" cy="310896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35"/>
          <p:cNvSpPr/>
          <p:nvPr/>
        </p:nvSpPr>
        <p:spPr>
          <a:xfrm>
            <a:off x="429768" y="2962656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Task 3: RAGAS Evaluation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35"/>
          <p:cNvSpPr/>
          <p:nvPr/>
        </p:nvSpPr>
        <p:spPr>
          <a:xfrm>
            <a:off x="429768" y="3310128"/>
            <a:ext cx="395020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1. Tạo 50 QA pairs từ domain documentation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2. pip install ragas và setup evaluation dataset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3. Chạy faithfulness + answer_relevancy + context_precision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4. So sánh scores giữa 2 prompt versions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5. Document findings: version nào tốt hơn và tại sao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35"/>
          <p:cNvSpPr/>
          <p:nvPr/>
        </p:nvSpPr>
        <p:spPr>
          <a:xfrm>
            <a:off x="4754880" y="2907792"/>
            <a:ext cx="4160520" cy="1874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35"/>
          <p:cNvSpPr/>
          <p:nvPr/>
        </p:nvSpPr>
        <p:spPr>
          <a:xfrm>
            <a:off x="4754880" y="2907792"/>
            <a:ext cx="4160520" cy="310896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35"/>
          <p:cNvSpPr/>
          <p:nvPr/>
        </p:nvSpPr>
        <p:spPr>
          <a:xfrm>
            <a:off x="4864608" y="2962656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Task 4: Guardrails AI Validator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35"/>
          <p:cNvSpPr/>
          <p:nvPr/>
        </p:nvSpPr>
        <p:spPr>
          <a:xfrm>
            <a:off x="4864608" y="3310128"/>
            <a:ext cx="395020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1. pip install guardrails-ai &amp;&amp; guardrails hub install hub://guardrails/detect_pii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2. Implement Guard với ValidJson + DetectPII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3. Test với input chứa email/phone → verify redaction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4. Test với prompt yêu cầu JSON output → verify reask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D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A5D7A"/>
                </a:solidFill>
                <a:latin typeface="Arial"/>
                <a:ea typeface="Arial"/>
                <a:cs typeface="Arial"/>
                <a:sym typeface="Arial"/>
              </a:rPr>
              <a:t>5. Log incidents vào file để audit trail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35"/>
          <p:cNvSpPr/>
          <p:nvPr/>
        </p:nvSpPr>
        <p:spPr>
          <a:xfrm>
            <a:off x="320040" y="48646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AICB-P2T2 · Ngày 22 · VinUniversity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35"/>
          <p:cNvSpPr/>
          <p:nvPr/>
        </p:nvSpPr>
        <p:spPr>
          <a:xfrm>
            <a:off x="8046720" y="48646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CA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CA8"/>
                </a:solidFill>
                <a:latin typeface="Arial"/>
                <a:ea typeface="Arial"/>
                <a:cs typeface="Arial"/>
                <a:sym typeface="Arial"/>
              </a:rPr>
              <a:t>35 / 37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952"/>
        </a:solidFill>
      </p:bgPr>
    </p:bg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36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36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Takeaways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36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9CC8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7B9CC8"/>
                </a:solidFill>
                <a:latin typeface="Arial"/>
                <a:ea typeface="Arial"/>
                <a:cs typeface="Arial"/>
                <a:sym typeface="Arial"/>
              </a:rPr>
              <a:t>Những điều quan trọng nhất từ buổi học hôm nay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36"/>
          <p:cNvSpPr/>
          <p:nvPr/>
        </p:nvSpPr>
        <p:spPr>
          <a:xfrm>
            <a:off x="365760" y="1051560"/>
            <a:ext cx="8412480" cy="1115568"/>
          </a:xfrm>
          <a:prstGeom prst="rect">
            <a:avLst/>
          </a:prstGeom>
          <a:solidFill>
            <a:srgbClr val="1A3566"/>
          </a:solidFill>
          <a:ln cap="flat" cmpd="sng" w="9525">
            <a:solidFill>
              <a:srgbClr val="3A5D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36"/>
          <p:cNvSpPr/>
          <p:nvPr/>
        </p:nvSpPr>
        <p:spPr>
          <a:xfrm>
            <a:off x="457200" y="1362456"/>
            <a:ext cx="475488" cy="475488"/>
          </a:xfrm>
          <a:prstGeom prst="ellipse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36"/>
          <p:cNvSpPr/>
          <p:nvPr/>
        </p:nvSpPr>
        <p:spPr>
          <a:xfrm>
            <a:off x="457200" y="1399032"/>
            <a:ext cx="4754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36"/>
          <p:cNvSpPr/>
          <p:nvPr/>
        </p:nvSpPr>
        <p:spPr>
          <a:xfrm>
            <a:off x="1078992" y="1161288"/>
            <a:ext cx="7498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Prompt là Code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36"/>
          <p:cNvSpPr/>
          <p:nvPr/>
        </p:nvSpPr>
        <p:spPr>
          <a:xfrm>
            <a:off x="1078992" y="1472184"/>
            <a:ext cx="7498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8D8F0"/>
                </a:solidFill>
                <a:latin typeface="Arial"/>
                <a:ea typeface="Arial"/>
                <a:cs typeface="Arial"/>
                <a:sym typeface="Arial"/>
              </a:rPr>
              <a:t>Phải version control, review, test như code — không phải 'just text'. Mỗi thay đổi cần commit message, mỗi production deploy cần pin exact version.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36"/>
          <p:cNvSpPr/>
          <p:nvPr/>
        </p:nvSpPr>
        <p:spPr>
          <a:xfrm>
            <a:off x="365760" y="2286000"/>
            <a:ext cx="8412480" cy="1115568"/>
          </a:xfrm>
          <a:prstGeom prst="rect">
            <a:avLst/>
          </a:prstGeom>
          <a:solidFill>
            <a:srgbClr val="1A3566"/>
          </a:solidFill>
          <a:ln cap="flat" cmpd="sng" w="9525">
            <a:solidFill>
              <a:srgbClr val="3A5D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36"/>
          <p:cNvSpPr/>
          <p:nvPr/>
        </p:nvSpPr>
        <p:spPr>
          <a:xfrm>
            <a:off x="457200" y="2596896"/>
            <a:ext cx="475488" cy="475488"/>
          </a:xfrm>
          <a:prstGeom prst="ellipse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6"/>
          <p:cNvSpPr/>
          <p:nvPr/>
        </p:nvSpPr>
        <p:spPr>
          <a:xfrm>
            <a:off x="457200" y="2633472"/>
            <a:ext cx="4754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36"/>
          <p:cNvSpPr/>
          <p:nvPr/>
        </p:nvSpPr>
        <p:spPr>
          <a:xfrm>
            <a:off x="1078992" y="2395728"/>
            <a:ext cx="7498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LLM-as-Judge là Tốt, Nhưng Phải Calibrate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36"/>
          <p:cNvSpPr/>
          <p:nvPr/>
        </p:nvSpPr>
        <p:spPr>
          <a:xfrm>
            <a:off x="1078992" y="2706624"/>
            <a:ext cx="7498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8D8F0"/>
                </a:solidFill>
                <a:latin typeface="Arial"/>
                <a:ea typeface="Arial"/>
                <a:cs typeface="Arial"/>
                <a:sym typeface="Arial"/>
              </a:rPr>
              <a:t>Scalable và rẻ hơn human eval 10-50x. Nhưng có bias — phải so sánh với human judgments định kỳ. Đo Cohen's kappa để track agreement.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36"/>
          <p:cNvSpPr/>
          <p:nvPr/>
        </p:nvSpPr>
        <p:spPr>
          <a:xfrm>
            <a:off x="365760" y="3520440"/>
            <a:ext cx="8412480" cy="1115568"/>
          </a:xfrm>
          <a:prstGeom prst="rect">
            <a:avLst/>
          </a:prstGeom>
          <a:solidFill>
            <a:srgbClr val="1A3566"/>
          </a:solidFill>
          <a:ln cap="flat" cmpd="sng" w="9525">
            <a:solidFill>
              <a:srgbClr val="3A5D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36"/>
          <p:cNvSpPr/>
          <p:nvPr/>
        </p:nvSpPr>
        <p:spPr>
          <a:xfrm>
            <a:off x="457200" y="3831336"/>
            <a:ext cx="475488" cy="475488"/>
          </a:xfrm>
          <a:prstGeom prst="ellipse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36"/>
          <p:cNvSpPr/>
          <p:nvPr/>
        </p:nvSpPr>
        <p:spPr>
          <a:xfrm>
            <a:off x="457200" y="3867912"/>
            <a:ext cx="4754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36"/>
          <p:cNvSpPr/>
          <p:nvPr/>
        </p:nvSpPr>
        <p:spPr>
          <a:xfrm>
            <a:off x="1078992" y="3630168"/>
            <a:ext cx="7498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Defense in Depth cho LLM Safety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36"/>
          <p:cNvSpPr/>
          <p:nvPr/>
        </p:nvSpPr>
        <p:spPr>
          <a:xfrm>
            <a:off x="1078992" y="3941064"/>
            <a:ext cx="7498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8D8F0"/>
                </a:solidFill>
                <a:latin typeface="Arial"/>
                <a:ea typeface="Arial"/>
                <a:cs typeface="Arial"/>
                <a:sym typeface="Arial"/>
              </a:rPr>
              <a:t>Guardrails ở cả input và output layer. Không rely vào 1 điểm kiểm soát duy nhất. Mỗi layer bắt được loại lỗi khác nhau.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6B"/>
        </a:solidFill>
      </p:bgPr>
    </p:bg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37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37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Tiếp Theo &amp; Bài Tập Về Nhà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37"/>
          <p:cNvSpPr/>
          <p:nvPr/>
        </p:nvSpPr>
        <p:spPr>
          <a:xfrm>
            <a:off x="320040" y="749808"/>
            <a:ext cx="4069080" cy="3474720"/>
          </a:xfrm>
          <a:prstGeom prst="rect">
            <a:avLst/>
          </a:prstGeom>
          <a:solidFill>
            <a:srgbClr val="1A3566"/>
          </a:solidFill>
          <a:ln cap="flat" cmpd="sng" w="9525">
            <a:solidFill>
              <a:srgbClr val="3A5D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37"/>
          <p:cNvSpPr/>
          <p:nvPr/>
        </p:nvSpPr>
        <p:spPr>
          <a:xfrm>
            <a:off x="320040" y="749808"/>
            <a:ext cx="4069080" cy="3657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37"/>
          <p:cNvSpPr/>
          <p:nvPr/>
        </p:nvSpPr>
        <p:spPr>
          <a:xfrm>
            <a:off x="457200" y="82296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Ngày 23 Preview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37"/>
          <p:cNvSpPr/>
          <p:nvPr/>
        </p:nvSpPr>
        <p:spPr>
          <a:xfrm>
            <a:off x="457200" y="1133856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Monitoring &amp; Observability Stack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37"/>
          <p:cNvSpPr/>
          <p:nvPr/>
        </p:nvSpPr>
        <p:spPr>
          <a:xfrm>
            <a:off x="457200" y="1554480"/>
            <a:ext cx="3794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AABBD4"/>
                </a:solidFill>
                <a:latin typeface="Arial"/>
                <a:ea typeface="Arial"/>
                <a:cs typeface="Arial"/>
                <a:sym typeface="Arial"/>
              </a:rPr>
              <a:t>"Grafana dashboards, Prometheus metrics, alerting cho AI systems — biết model đang fail trước khi user phản hồi."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37"/>
          <p:cNvSpPr/>
          <p:nvPr/>
        </p:nvSpPr>
        <p:spPr>
          <a:xfrm>
            <a:off x="457200" y="2450592"/>
            <a:ext cx="3794760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8D8F0"/>
                </a:solidFill>
                <a:latin typeface="Arial"/>
                <a:ea typeface="Arial"/>
                <a:cs typeface="Arial"/>
                <a:sym typeface="Arial"/>
              </a:rPr>
              <a:t>Topics: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8D8F0"/>
                </a:solidFill>
                <a:latin typeface="Arial"/>
                <a:ea typeface="Arial"/>
                <a:cs typeface="Arial"/>
                <a:sym typeface="Arial"/>
              </a:rPr>
              <a:t>• OpenTelemetry instrumentation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8D8F0"/>
                </a:solidFill>
                <a:latin typeface="Arial"/>
                <a:ea typeface="Arial"/>
                <a:cs typeface="Arial"/>
                <a:sym typeface="Arial"/>
              </a:rPr>
              <a:t>• Prometheus metrics cho LLM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8D8F0"/>
                </a:solidFill>
                <a:latin typeface="Arial"/>
                <a:ea typeface="Arial"/>
                <a:cs typeface="Arial"/>
                <a:sym typeface="Arial"/>
              </a:rPr>
              <a:t>• Grafana dashboard cho AI systems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8D8F0"/>
                </a:solidFill>
                <a:latin typeface="Arial"/>
                <a:ea typeface="Arial"/>
                <a:cs typeface="Arial"/>
                <a:sym typeface="Arial"/>
              </a:rPr>
              <a:t>• Alert rules &amp; incident response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37"/>
          <p:cNvSpPr/>
          <p:nvPr/>
        </p:nvSpPr>
        <p:spPr>
          <a:xfrm>
            <a:off x="4754880" y="749808"/>
            <a:ext cx="4069080" cy="3474720"/>
          </a:xfrm>
          <a:prstGeom prst="rect">
            <a:avLst/>
          </a:prstGeom>
          <a:solidFill>
            <a:srgbClr val="1A3566"/>
          </a:solidFill>
          <a:ln cap="flat" cmpd="sng" w="9525">
            <a:solidFill>
              <a:srgbClr val="3A5D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37"/>
          <p:cNvSpPr/>
          <p:nvPr/>
        </p:nvSpPr>
        <p:spPr>
          <a:xfrm>
            <a:off x="4754880" y="749808"/>
            <a:ext cx="4069080" cy="36576"/>
          </a:xfrm>
          <a:prstGeom prst="rect">
            <a:avLst/>
          </a:prstGeom>
          <a:solidFill>
            <a:srgbClr val="1A7A4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37"/>
          <p:cNvSpPr/>
          <p:nvPr/>
        </p:nvSpPr>
        <p:spPr>
          <a:xfrm>
            <a:off x="4892040" y="82296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AABBD4"/>
                </a:solidFill>
                <a:latin typeface="Arial"/>
                <a:ea typeface="Arial"/>
                <a:cs typeface="Arial"/>
                <a:sym typeface="Arial"/>
              </a:rPr>
              <a:t>Bài Tập Về Nhà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37"/>
          <p:cNvSpPr/>
          <p:nvPr/>
        </p:nvSpPr>
        <p:spPr>
          <a:xfrm>
            <a:off x="4892040" y="1234440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Hoàn thành Lab #22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37"/>
          <p:cNvSpPr/>
          <p:nvPr/>
        </p:nvSpPr>
        <p:spPr>
          <a:xfrm>
            <a:off x="4892040" y="1490472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Arial"/>
                <a:ea typeface="Arial"/>
                <a:cs typeface="Arial"/>
                <a:sym typeface="Arial"/>
              </a:rPr>
              <a:t>LangSmith + Prompt Versioning — nộp screenshot traces + RAGAS report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37"/>
          <p:cNvSpPr/>
          <p:nvPr/>
        </p:nvSpPr>
        <p:spPr>
          <a:xfrm>
            <a:off x="4892040" y="1984248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Cài Docker Compose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37"/>
          <p:cNvSpPr/>
          <p:nvPr/>
        </p:nvSpPr>
        <p:spPr>
          <a:xfrm>
            <a:off x="4892040" y="224028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Arial"/>
                <a:ea typeface="Arial"/>
                <a:cs typeface="Arial"/>
                <a:sym typeface="Arial"/>
              </a:rPr>
              <a:t>Setup Prometheus + Grafana cho pre-lab Ngày 23 (docker-compose.yml trên LMS)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37"/>
          <p:cNvSpPr/>
          <p:nvPr/>
        </p:nvSpPr>
        <p:spPr>
          <a:xfrm>
            <a:off x="4892040" y="2734056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Đọc trước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37"/>
          <p:cNvSpPr/>
          <p:nvPr/>
        </p:nvSpPr>
        <p:spPr>
          <a:xfrm>
            <a:off x="4892040" y="2990088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Arial"/>
                <a:ea typeface="Arial"/>
                <a:cs typeface="Arial"/>
                <a:sym typeface="Arial"/>
              </a:rPr>
              <a:t>OpenTelemetry Python instrumentation guide — link trên LMS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37"/>
          <p:cNvSpPr/>
          <p:nvPr/>
        </p:nvSpPr>
        <p:spPr>
          <a:xfrm>
            <a:off x="4892040" y="3483864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 Bonus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37"/>
          <p:cNvSpPr/>
          <p:nvPr/>
        </p:nvSpPr>
        <p:spPr>
          <a:xfrm>
            <a:off x="4892040" y="3739896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BBD4"/>
                </a:solidFill>
                <a:latin typeface="Arial"/>
                <a:ea typeface="Arial"/>
                <a:cs typeface="Arial"/>
                <a:sym typeface="Arial"/>
              </a:rPr>
              <a:t>Thử so sánh 2 embedding models trên RAGAS context precision metric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37"/>
          <p:cNvSpPr/>
          <p:nvPr/>
        </p:nvSpPr>
        <p:spPr>
          <a:xfrm>
            <a:off x="457200" y="44348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9CC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B9CC8"/>
                </a:solidFill>
                <a:latin typeface="Arial"/>
                <a:ea typeface="Arial"/>
                <a:cs typeface="Arial"/>
                <a:sym typeface="Arial"/>
              </a:rPr>
              <a:t>lms.vinuni.edu.vn · Slides, lab templates và resources trên LMS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2026-05-03T17:14:50Z</dcterms:created>
  <dc:creator>VinUniversity</dc:creator>
</cp:coreProperties>
</file>